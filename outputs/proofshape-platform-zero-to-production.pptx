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cover,Evidence: Production-candidate guide · browser-validated outcomes · updated 2026-07-13,Expected: Use the arrows, section tabs, or role menu. Check off each action as you perform it; progress stays on this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guarantee,Evidence: local-100-golden-gate.mjs · no stale, generic, mixed-run, or dirty-build evidence accepted,Expected: LOCAL_100 is earned only when all 64 required browser and recovery contracts pass against the exact clean commit. The numbers on this slide describe the contract; they do not certify the build you are viewing.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roles,Evidence: Role itineraries mapped to canonical browser paths and explicit provider boundaries,Expected: Choose a role; then use Next in my role until the itinerary says complete. On a PARTIAL slide, stop at the named external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lifecycle,Evidence: Verify pipeline, decision persistence, export, and history browser journeys,Expected: If an upstream stage fails, downstream stages are withheld. A blank or withheld value is never silently treated as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trust,Evidence: Accessibility token tests + enterprise methodology-fidelity gate,Expected: Every cost, dimension, quantity, rate, source, and identifier keeps its provenance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before,Evidence: Fixture bytes + parser contracts + deck download/re-hash QA,Expected: The golden STEP is exactly 19,030 bytes with SHA-256 76923244…61103a. Every downloadable fixture is independently hashed and parsed by the release suite; the README names its exact accepted and rejected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access,Evidence: AUTH-01–05 · password/email-link exchange · safe-return-path regressions,Expected: Successful access lands on /verify and shows DAY ZERO SETUP. Weak credentials, expired links, wrong invited identities, and unsafe return paths are rejected without creating a false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access-modes,Evidence: Auth canonical matrix · live email/Turnstile/IdP acceptance remains external,Expected: Local password and token-exchange contracts are validated. PARTIAL remains until the real email domain, Turnstile, and production IdP test tenant each pass delivery, expiry, replay, group, and logout acceptance.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invite-accept,Evidence: AUTH-03 · ROLE-03 invitation create/revoke/accept boundary,Expected: One active membership is created for the invited identity at the intended role. Revocation and replay are durable; neither a token leak nor a different signed-in user can join the 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session-security,Evidence: AUTH-02/05/07/08 · session boundary and password initialization,Expected: Password initialization never weakens email-link recovery; sign-out removes the session, protected pages stay protected after Back/refresh, and a new login restores only authorized tenant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day-zero,Evidence: VER-01/02 · public/auth golden matrix,Expected: All counters start at zero. Opening or revisiting a section does not invent or mutate tenant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navigation,Evidence: AUTH-07/08 · VER-09 · mobile responsive-loop oracle,Expected: The requested surface opens, focus remains usable, and navigation never substitutes a different tenant, design, revision, or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notifications,Evidence: VER-04 · ROLE-04 · FAIL-09 notification matrix,Expected: The destination is correct, unread count reaches zero, read and dismissal timestamps survive the session boundary, and deleting the source produces an honest not-found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public-evaluator,Evidence: PUBLIC-01–04 · unauthenticated tenant-boundary matrix,Expected: Public content loads without tenant facts; protected data remains 401/redirected; public claims never imply a live supplier send, certified quote, or configured customer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verify-upload,Evidence: VER-05 · training-guide semantic oracle,Expected: The golden file completes—without “temporarily busy” or tessellation error—and creates a durable cost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verify-read,Evidence: INPUT-INTEGRITY-001 · DISPLAY-FIDELITY-001 · training-guide pinned cost oracle,Expected: The live UI and reopened private decision show the exact source SHA-256. Geometry, fdm make-now route, 923-unit crossover, six recommendation points, and 48 estimate rows match the versioned golden oracle; model-derived prices remain explicitly assumption-based.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verify-act,Evidence: VER-06/07 · WORK-05 notification/decision matrix,Expected: Every choice and trimmed/empty note round-trips exactly; approve, reopen, stale, reload, and unchanged-artifact checks preserve the underlying calculation.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analyze-dfm,Evidence: WORK-02 · exact analysis-variant/rule-pack cache regressions,Expected: The result persists under the exact bytes + process set + units + rule-pack version. Every displayed finding has structured severity/remediation/scope; localized findings link to geometry and governed findings retain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verify-formats,Evidence: CAD-01–09 · VER-05 · FAIL-01/02 · wire fixture SHA a5d464dc…23a7,Expected: Valid corpus files preserve exact geometry contracts. The wire-only STEP is structurally valid but has no tessellatable solid/shell, so it returns the documented bounded error and creates no analysis or cost evidence. Prior records and machine inventory remain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parts-triage,Evidence: ENT-04/05 · Parts master and triage gates · fixture SHAs 118e15d1…ac5 / 567fc0c2…1268,Expected: Catalog filters, saved views, triage counts, and detail links reference the same organization-scoped part/hash. The fixture map parses two rows and rejects line 4; onboarding creates one real cube identity, reports missing.step, and fabricates no placeholder geometry.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records-history,Evidence: VER-04/09 · ENT-05 · durable record and source-identity oracles,Expected: The same immutable IDs, bytes/hash, analysis variant, cost decision, governance, and source links survive navigation. Missing sources fail honestly; history never substitutes newest-by-filename.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assembly-context,Evidence: ENT-03/05 · assembly-visual-fidelity supplemental gate,Expected: The same parent, part, transform, and service values survive navigation; synthetic assembly fixtures render a real visual change from exploded to seated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design-guardrails,Evidence: DES-01–04 · Design Studio golden matrix,Expected: An unsupported turbine or freeform request creates no project. Missing, contradictory, and unsafe dimensions are named instead of guessed.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design-plate,Evidence: DES-05 · structured artifact/hash oracle,Expected: The preview shows a plate with four holes; envelope is 120 × 70 × 8 mm and volume is 64.69 cm³, with deterministic STEP bytes and hash.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design-revise,Evidence: DES-10/12/13 · cross-design history regression,Expected: R2 becomes current at 130 × 70 × 8 mm; R1 remains downloadable with its original hash and bytes. Another project’s history never leaks into this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design-history,Evidence: DES-11 · VER-09 identity continuity,Expected: Verify consumes R1 bytes—not R2—and reports the R1 64.69 cm³ geometry after refresh, back/forward, and restart.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design-archive,Evidence: DES-12/13 · WORK-11 archive/restore responsive-loop oracle,Expected: Active → Archived → Active survives refresh with one project identity. Revision count, current revision, dimensions, STEP sizes, and hashes remain exact; repeated rapid actions create no duplicate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design-shapes,Evidence: DES-06–09 · geometry and route oracles,Expected: Bracket volume is 40.20 cm³; enclosure volume is 54.41 cm³. Both complete DFM and cost without rotational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cost-direct,Evidence: WORK-01 · human process-selector and numerical reconciliation oracle,Expected: Both real runs complete without timeout; the selected process changes the active result; each quantity has finite unit/fixed/variable cost, line items differ by less than $0.02 from unit cost, and the saved record reopens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cost-workspace,Evidence: WORK-03/04 · training-guide durable-cost oracle,Expected: The record re-renders the same geometry, quantities, process, estimates, drivers, confidence, and decision JSON after reopen and refresh; the exact estimate count is read from that record, never assumed from this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decision-approve,Evidence: WORK-05 · governance branch oracle,Expected: Unreviewed → Approved → Unreviewed. Exact note, cost, geometry, drivers, and decision JSON remain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decision-stale,Evidence: WORK-05 · governed-rate transition oracle,Expected: The decision shows Stale and “Re-cost before relying on this record,” with reason rate_library_published.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compare-ab,Evidence: WORK-06 · 199-assertion compare/RFQ/key matrix,Expected: Every displayed value matches the compare API and source records; order, quantities, approval, stale state, and numerical deltas remain exact after reload.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exports,Evidence: DES-05/10/11 · WORK-06/08 · training-guide RFQ oracle,Expected: Browser downloads are non-empty, named correctly, parse successfully, and reproduce the source decision or design without hidden fallback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public-share,Evidence: WORK-07 · unauthenticated payload privacy + owner revoke lifecycle,Expected: Before revocation, the public view is readable and mutation-free with a minimized payload. After revocation, both page and API return unavailable/404 while the owner record persists with sharing disabled.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machine-floor,Evidence: MFG-01–06 · ENT-01 manufacturing/CAD matrix · embedded fixture SHA dc96692c…5306,Expected: Exactly one valid cnc_3axis row imports and the intentional line 3 is skipped with count-not-an-integer copy. The authored machine persists; valid zero values remain zero; retry never removes existing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calibration,Evidence: ENT-02 · source-artifact/calibration success contract · safe fixture SHA 16cd702c…62a,Expected: The practice file can never flip a band solid. In the isolated release test, eight test-tenant actual records bound to a durably captured STEP source complete with zero skipped records and measured held-out metrics; customer accuracy is never inferred from those test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severe-service,Evidence: ENT-03 · exact context/verdict/citation browser oracle,Expected: One or more unsafe polymer routes are excluded with standards-cited reasons visible in the UI; PEEK remains an explicit owned-capability gap; the declared stainless route recovers to makeable_in_house and the USER service context persists.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programs,Evidence: ENT-04 · exact-economics oracle · manifest SHA 567fc0c2…1268,Expected: For the pinned program oracle: 12,000 units × $10.08 = $120,960/year. The single-part $133.58 headline and any row without exact-volume evidence are explicitly rejected as annual bases.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batch,Evidence: WORK-02/11 · batch/recovery golden matrix,Expected: The one-part ZIP reaches Completed 1/1 without reload; CSV headers, filename, status, verdict, process, duration, analysis URL, and error field reconcile.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batch-recovery,Evidence: FAIL-04/05/10 · batch race and rollback regressions,Expected: A single durable batch reaches Completed 1/1 after recovery; no duplicate analysis, stranded item, false success, or lost mounted-row state remains.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batch-cancel,Evidence: WORK-11 · cancellation BaseException regression · 660-second stale lease recovery,Expected: A cancelled parent has no pending/queued/processing children and never later becomes Completed. A worker cancellation releases the processing lease; stale-lease fallback requeues only after the hard timeout safety margin and links the exact persisted analysis variant.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rfq,Evidence: WORK-08 · training-guide RFQ semantic PDF/ZIP oracle,Expected: For the pinned cube, manifest, line item, supplier brief, exact decision JSON, 48 estimate/driver rows, required part context, warnings, raw-CAD boundary, and a real parsed PDF reconcile with the immutable package snapshot. PDF-unavailable is a release failure for this golden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integrations,Evidence: WORK-09/10 · SAP SHA 31aa45fe…664f · Windchill SHA 5ff55031…307 · live vendor gate external,Expected: Offline fixture rows remain exact and retry creates no duplicates. PARTIAL means no claim that SAP or Windchill accepted a live connection until their real sandboxes are configured and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api-keys,Evidence: WORK-12 · compare/RFQ/key browser matrix,Expected: Create/use/reload/rotate/reject-old/use-new/revoke/reject-new all pass; durable status and audit state survive reload while the dashboard session remains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org-security,Evidence: AUTH-03 · SCIM/IdP lifecycle supplemental gate,Expected: The organization and security pages show real configured state, not seeded facts. Local SAML/SCIM lifecycle contracts pass; a live IdP remains an external staging acceptance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role-boundaries,Evidence: ROLE-01–04 · two-tenant browser boundary matrix,Expected: Viewer administration returns 403; cross-tenant records never render or download; API keys, cache values, worker writes, notifications, and recovery remain bound to the issuing 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reconstruction-boundary,Evidence: ENT-05 actionable recovery · external provider/accuracy gate,Expected: Without an approved backend, the endpoint returns an actionable 501 boundary and creates no fabricated mesh. A live reconstruction claim requires provider, accuracy, security, and customer-file acceptance.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recovery,Evidence: FAIL-01–10 · mobile/recovery and domain matrices,Expected: 401, 403, 404, 409, 422, 429, and 500 states show bounded next actions; FAIL-01–10 recover without duplicate or corrupted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mobile,Evidence: Deck all-slide mobile sweep + VER-09 · WORK-11 · FAIL-03–10 app matrix,Expected: Every guide slide remains horizontally usable at 390 × 844; all controls are touch sized; tested bounded app workflows complete without duplicate mutations; persisted design, revision, batch, decision, and file identities remain exact across responsive and restart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external-launch,Evidence: External launch runbook · user/provider/legal ownership required,Expected: Public go-live occurs only after each provider health check, DNS/TLS check, backup/restore drill, alert route, owner, rollback, and legal approval is real. No simulated dependency can satisfy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whole-journey,Evidence: training-guide-e2e exact record chain + semantic ZIP/PDF reconciliation,Expected: One traceable account and decision ID connects the exact source bytes to measured geometry, governed should-cost evidence, a durable record, and an immutable RFQ package—without contacting a supplier or borrowing evidence from another test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route: finish,Evidence: Exact clean release gate + browser deck QA + full regressions; this slide never self-certifies,Expected: Only an exact clean-build LOCAL_100 report can certify all 64 local contracts for the build being served. Public production additionally requires real managed services, DNS/TLS, IdP/vendor acceptance, legal/IP approval, monitoring, backup, rollback, and accountable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OFSHAPE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66B73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66B73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2.xml"/><Relationship Id="rId14" Type="http://schemas.openxmlformats.org/officeDocument/2006/relationships/hyperlink" Target="http://localhost:3000/verify" TargetMode="External"/><Relationship Id="rId15" Type="http://schemas.openxmlformats.org/officeDocument/2006/relationships/image" Target="../media/image-1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1.xml"/><Relationship Id="rId14" Type="http://schemas.openxmlformats.org/officeDocument/2006/relationships/slide" Target="slide3.xm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2.xml"/><Relationship Id="rId14" Type="http://schemas.openxmlformats.org/officeDocument/2006/relationships/slide" Target="slide4.xml"/><Relationship Id="rId15" Type="http://schemas.openxmlformats.org/officeDocument/2006/relationships/slide" Target="slide7.xml"/><Relationship Id="rId16" Type="http://schemas.openxmlformats.org/officeDocument/2006/relationships/slide" Target="slide7.xml"/><Relationship Id="rId17" Type="http://schemas.openxmlformats.org/officeDocument/2006/relationships/slide" Target="slide7.xml"/><Relationship Id="rId18" Type="http://schemas.openxmlformats.org/officeDocument/2006/relationships/slide" Target="slide7.xml"/><Relationship Id="rId19" Type="http://schemas.openxmlformats.org/officeDocument/2006/relationships/slide" Target="slide7.xml"/><Relationship Id="rId20" Type="http://schemas.openxmlformats.org/officeDocument/2006/relationships/slide" Target="slide7.xml"/><Relationship Id="rId21" Type="http://schemas.openxmlformats.org/officeDocument/2006/relationships/slide" Target="slide7.xml"/><Relationship Id="rId22" Type="http://schemas.openxmlformats.org/officeDocument/2006/relationships/slide" Target="slide14.xml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3.xml"/><Relationship Id="rId14" Type="http://schemas.openxmlformats.org/officeDocument/2006/relationships/slide" Target="slide5.xm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4.xml"/><Relationship Id="rId14" Type="http://schemas.openxmlformats.org/officeDocument/2006/relationships/slide" Target="slide6.xm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5.xml"/><Relationship Id="rId14" Type="http://schemas.openxmlformats.org/officeDocument/2006/relationships/slide" Target="slide7.xm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6.xml"/><Relationship Id="rId14" Type="http://schemas.openxmlformats.org/officeDocument/2006/relationships/slide" Target="slide8.xml"/><Relationship Id="rId15" Type="http://schemas.openxmlformats.org/officeDocument/2006/relationships/hyperlink" Target="http://localhost:3000/login" TargetMode="External"/><Relationship Id="rId16" Type="http://schemas.openxmlformats.org/officeDocument/2006/relationships/hyperlink" Target="http://localhost:3000/signup" TargetMode="External"/><Relationship Id="rId17" Type="http://schemas.openxmlformats.org/officeDocument/2006/relationships/image" Target="../media/image-7-1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7.xml"/><Relationship Id="rId14" Type="http://schemas.openxmlformats.org/officeDocument/2006/relationships/slide" Target="slide9.xm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8.xml"/><Relationship Id="rId14" Type="http://schemas.openxmlformats.org/officeDocument/2006/relationships/slide" Target="slide10.xml"/><Relationship Id="rId15" Type="http://schemas.openxmlformats.org/officeDocument/2006/relationships/hyperlink" Target="http://localhost:3000/settings/organization" TargetMode="External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9.xml"/><Relationship Id="rId14" Type="http://schemas.openxmlformats.org/officeDocument/2006/relationships/slide" Target="slide11.xml"/><Relationship Id="rId15" Type="http://schemas.openxmlformats.org/officeDocument/2006/relationships/hyperlink" Target="http://localhost:3000/settings/security" TargetMode="External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10.xml"/><Relationship Id="rId14" Type="http://schemas.openxmlformats.org/officeDocument/2006/relationships/slide" Target="slide12.xml"/><Relationship Id="rId15" Type="http://schemas.openxmlformats.org/officeDocument/2006/relationships/image" Target="../media/image-11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11.xml"/><Relationship Id="rId14" Type="http://schemas.openxmlformats.org/officeDocument/2006/relationships/slide" Target="slide13.xml"/><Relationship Id="rId15" Type="http://schemas.openxmlformats.org/officeDocument/2006/relationships/image" Target="../media/image-12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12.xml"/><Relationship Id="rId14" Type="http://schemas.openxmlformats.org/officeDocument/2006/relationships/slide" Target="slide14.xml"/><Relationship Id="rId15" Type="http://schemas.openxmlformats.org/officeDocument/2006/relationships/image" Target="../media/image-13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13.xml"/><Relationship Id="rId14" Type="http://schemas.openxmlformats.org/officeDocument/2006/relationships/slide" Target="slide15.xml"/><Relationship Id="rId15" Type="http://schemas.openxmlformats.org/officeDocument/2006/relationships/hyperlink" Target="http://localhost:3000/method" TargetMode="External"/><Relationship Id="rId16" Type="http://schemas.openxmlformats.org/officeDocument/2006/relationships/hyperlink" Target="http://localhost:3000/platform" TargetMode="External"/><Relationship Id="rId17" Type="http://schemas.openxmlformats.org/officeDocument/2006/relationships/hyperlink" Target="http://localhost:3000/security" TargetMode="External"/><Relationship Id="rId18" Type="http://schemas.openxmlformats.org/officeDocument/2006/relationships/hyperlink" Target="http://localhost:3000/developers" TargetMode="Externa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14.xml"/><Relationship Id="rId14" Type="http://schemas.openxmlformats.org/officeDocument/2006/relationships/slide" Target="slide16.xml"/><Relationship Id="rId15" Type="http://schemas.openxmlformats.org/officeDocument/2006/relationships/image" Target="../media/image-15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15.xml"/><Relationship Id="rId14" Type="http://schemas.openxmlformats.org/officeDocument/2006/relationships/slide" Target="slide17.xm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16.xml"/><Relationship Id="rId14" Type="http://schemas.openxmlformats.org/officeDocument/2006/relationships/slide" Target="slide18.xm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17.xml"/><Relationship Id="rId14" Type="http://schemas.openxmlformats.org/officeDocument/2006/relationships/slide" Target="slide19.xml"/><Relationship Id="rId15" Type="http://schemas.openxmlformats.org/officeDocument/2006/relationships/hyperlink" Target="http://localhost:3000/analyze" TargetMode="External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18.xml"/><Relationship Id="rId14" Type="http://schemas.openxmlformats.org/officeDocument/2006/relationships/slide" Target="slide20.xm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19.xml"/><Relationship Id="rId14" Type="http://schemas.openxmlformats.org/officeDocument/2006/relationships/slide" Target="slide21.xml"/><Relationship Id="rId15" Type="http://schemas.openxmlformats.org/officeDocument/2006/relationships/hyperlink" Target="http://localhost:3000/verify?screen=catalog" TargetMode="External"/><Relationship Id="rId16" Type="http://schemas.openxmlformats.org/officeDocument/2006/relationships/hyperlink" Target="http://localhost:3000/verify?screen=triage" TargetMode="External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20.xml"/><Relationship Id="rId14" Type="http://schemas.openxmlformats.org/officeDocument/2006/relationships/slide" Target="slide22.xml"/><Relationship Id="rId15" Type="http://schemas.openxmlformats.org/officeDocument/2006/relationships/hyperlink" Target="http://localhost:3000/verify?screen=records" TargetMode="External"/><Relationship Id="rId16" Type="http://schemas.openxmlformats.org/officeDocument/2006/relationships/hyperlink" Target="http://localhost:3000/history" TargetMode="External"/><Relationship Id="rId17" Type="http://schemas.openxmlformats.org/officeDocument/2006/relationships/hyperlink" Target="http://localhost:3000/cost-decisions" TargetMode="Externa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21.xml"/><Relationship Id="rId14" Type="http://schemas.openxmlformats.org/officeDocument/2006/relationships/slide" Target="slide23.xml"/><Relationship Id="rId15" Type="http://schemas.openxmlformats.org/officeDocument/2006/relationships/image" Target="../media/image-22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22.xml"/><Relationship Id="rId14" Type="http://schemas.openxmlformats.org/officeDocument/2006/relationships/slide" Target="slide24.xml"/><Relationship Id="rId15" Type="http://schemas.openxmlformats.org/officeDocument/2006/relationships/image" Target="../media/image-23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23.xml"/><Relationship Id="rId14" Type="http://schemas.openxmlformats.org/officeDocument/2006/relationships/slide" Target="slide25.xml"/><Relationship Id="rId15" Type="http://schemas.openxmlformats.org/officeDocument/2006/relationships/image" Target="../media/image-24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24.xml"/><Relationship Id="rId14" Type="http://schemas.openxmlformats.org/officeDocument/2006/relationships/slide" Target="slide26.xml"/><Relationship Id="rId15" Type="http://schemas.openxmlformats.org/officeDocument/2006/relationships/image" Target="../media/image-25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25.xml"/><Relationship Id="rId14" Type="http://schemas.openxmlformats.org/officeDocument/2006/relationships/slide" Target="slide27.xml"/><Relationship Id="rId15" Type="http://schemas.openxmlformats.org/officeDocument/2006/relationships/image" Target="../media/image-26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26.xml"/><Relationship Id="rId14" Type="http://schemas.openxmlformats.org/officeDocument/2006/relationships/slide" Target="slide28.xml"/><Relationship Id="rId15" Type="http://schemas.openxmlformats.org/officeDocument/2006/relationships/hyperlink" Target="http://localhost:3000/designs" TargetMode="External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27.xml"/><Relationship Id="rId14" Type="http://schemas.openxmlformats.org/officeDocument/2006/relationships/slide" Target="slide29.xml"/><Relationship Id="rId15" Type="http://schemas.openxmlformats.org/officeDocument/2006/relationships/image" Target="../media/image-28-1.png"/><Relationship Id="rId16" Type="http://schemas.openxmlformats.org/officeDocument/2006/relationships/image" Target="../media/image-28-2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28.xml"/><Relationship Id="rId14" Type="http://schemas.openxmlformats.org/officeDocument/2006/relationships/slide" Target="slide30.xml"/><Relationship Id="rId15" Type="http://schemas.openxmlformats.org/officeDocument/2006/relationships/hyperlink" Target="http://localhost:3000/cost" TargetMode="External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29.xml"/><Relationship Id="rId14" Type="http://schemas.openxmlformats.org/officeDocument/2006/relationships/slide" Target="slide31.xml"/><Relationship Id="rId15" Type="http://schemas.openxmlformats.org/officeDocument/2006/relationships/hyperlink" Target="http://localhost:3000/cost-decisions" TargetMode="External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30.xml"/><Relationship Id="rId14" Type="http://schemas.openxmlformats.org/officeDocument/2006/relationships/slide" Target="slide32.xml"/><Relationship Id="rId15" Type="http://schemas.openxmlformats.org/officeDocument/2006/relationships/image" Target="../media/image-31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31.xml"/><Relationship Id="rId14" Type="http://schemas.openxmlformats.org/officeDocument/2006/relationships/slide" Target="slide33.xml"/><Relationship Id="rId15" Type="http://schemas.openxmlformats.org/officeDocument/2006/relationships/image" Target="../media/image-32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32.xml"/><Relationship Id="rId14" Type="http://schemas.openxmlformats.org/officeDocument/2006/relationships/slide" Target="slide34.xm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33.xml"/><Relationship Id="rId14" Type="http://schemas.openxmlformats.org/officeDocument/2006/relationships/slide" Target="slide35.xm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34.xml"/><Relationship Id="rId14" Type="http://schemas.openxmlformats.org/officeDocument/2006/relationships/slide" Target="slide36.xm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35.xml"/><Relationship Id="rId14" Type="http://schemas.openxmlformats.org/officeDocument/2006/relationships/slide" Target="slide37.xml"/><Relationship Id="rId15" Type="http://schemas.openxmlformats.org/officeDocument/2006/relationships/hyperlink" Target="http://localhost:3000/verify?screen=machines" TargetMode="External"/><Relationship Id="rId16" Type="http://schemas.openxmlformats.org/officeDocument/2006/relationships/image" Target="../media/image-36-1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36.xml"/><Relationship Id="rId14" Type="http://schemas.openxmlformats.org/officeDocument/2006/relationships/slide" Target="slide38.xml"/><Relationship Id="rId15" Type="http://schemas.openxmlformats.org/officeDocument/2006/relationships/hyperlink" Target="http://localhost:3000/verify?screen=calibration" TargetMode="External"/><Relationship Id="rId16" Type="http://schemas.openxmlformats.org/officeDocument/2006/relationships/image" Target="../media/image-37-1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37.xml"/><Relationship Id="rId14" Type="http://schemas.openxmlformats.org/officeDocument/2006/relationships/slide" Target="slide39.xm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38.xml"/><Relationship Id="rId14" Type="http://schemas.openxmlformats.org/officeDocument/2006/relationships/slide" Target="slide40.xml"/><Relationship Id="rId15" Type="http://schemas.openxmlformats.org/officeDocument/2006/relationships/hyperlink" Target="http://localhost:3000/verify?screen=programs" TargetMode="External"/><Relationship Id="rId16" Type="http://schemas.openxmlformats.org/officeDocument/2006/relationships/image" Target="../media/image-39-1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39.xml"/><Relationship Id="rId14" Type="http://schemas.openxmlformats.org/officeDocument/2006/relationships/slide" Target="slide41.xml"/><Relationship Id="rId15" Type="http://schemas.openxmlformats.org/officeDocument/2006/relationships/image" Target="../media/image-40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40.xml"/><Relationship Id="rId14" Type="http://schemas.openxmlformats.org/officeDocument/2006/relationships/slide" Target="slide42.xml"/><Relationship Id="rId15" Type="http://schemas.openxmlformats.org/officeDocument/2006/relationships/image" Target="../media/image-41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41.xml"/><Relationship Id="rId14" Type="http://schemas.openxmlformats.org/officeDocument/2006/relationships/slide" Target="slide43.xml"/><Relationship Id="rId15" Type="http://schemas.openxmlformats.org/officeDocument/2006/relationships/hyperlink" Target="http://localhost:3000/batch" TargetMode="External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42.xml"/><Relationship Id="rId14" Type="http://schemas.openxmlformats.org/officeDocument/2006/relationships/slide" Target="slide44.xml"/><Relationship Id="rId15" Type="http://schemas.openxmlformats.org/officeDocument/2006/relationships/image" Target="../media/image-43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43.xml"/><Relationship Id="rId14" Type="http://schemas.openxmlformats.org/officeDocument/2006/relationships/slide" Target="slide45.xml"/><Relationship Id="rId15" Type="http://schemas.openxmlformats.org/officeDocument/2006/relationships/hyperlink" Target="http://localhost:3000/integrations" TargetMode="External"/><Relationship Id="rId16" Type="http://schemas.openxmlformats.org/officeDocument/2006/relationships/image" Target="../media/image-44-1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44.xml"/><Relationship Id="rId14" Type="http://schemas.openxmlformats.org/officeDocument/2006/relationships/slide" Target="slide46.xml"/><Relationship Id="rId15" Type="http://schemas.openxmlformats.org/officeDocument/2006/relationships/image" Target="../media/image-45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45.xml"/><Relationship Id="rId14" Type="http://schemas.openxmlformats.org/officeDocument/2006/relationships/slide" Target="slide47.xml"/><Relationship Id="rId15" Type="http://schemas.openxmlformats.org/officeDocument/2006/relationships/image" Target="../media/image-46-1.png"/><Relationship Id="rId16" Type="http://schemas.openxmlformats.org/officeDocument/2006/relationships/image" Target="../media/image-46-2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46.xml"/><Relationship Id="rId14" Type="http://schemas.openxmlformats.org/officeDocument/2006/relationships/slide" Target="slide48.xml"/><Relationship Id="rId15" Type="http://schemas.openxmlformats.org/officeDocument/2006/relationships/image" Target="../media/image-47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47.xml"/><Relationship Id="rId14" Type="http://schemas.openxmlformats.org/officeDocument/2006/relationships/slide" Target="slide49.xm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48.xml"/><Relationship Id="rId14" Type="http://schemas.openxmlformats.org/officeDocument/2006/relationships/slide" Target="slide50.xml"/><Relationship Id="rId15" Type="http://schemas.openxmlformats.org/officeDocument/2006/relationships/image" Target="../media/image-49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49.xml"/><Relationship Id="rId14" Type="http://schemas.openxmlformats.org/officeDocument/2006/relationships/slide" Target="slide51.xml"/><Relationship Id="rId15" Type="http://schemas.openxmlformats.org/officeDocument/2006/relationships/image" Target="../media/image-50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50.xml"/><Relationship Id="rId14" Type="http://schemas.openxmlformats.org/officeDocument/2006/relationships/slide" Target="slide52.xm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51.xml"/><Relationship Id="rId14" Type="http://schemas.openxmlformats.org/officeDocument/2006/relationships/slide" Target="slide53.xml"/><Relationship Id="rId15" Type="http://schemas.openxmlformats.org/officeDocument/2006/relationships/hyperlink" Target="http://localhost:3000/signup" TargetMode="External"/><Relationship Id="rId16" Type="http://schemas.openxmlformats.org/officeDocument/2006/relationships/image" Target="../media/image-52-1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6.xml"/><Relationship Id="rId8" Type="http://schemas.openxmlformats.org/officeDocument/2006/relationships/slide" Target="slide40.xml"/><Relationship Id="rId9" Type="http://schemas.openxmlformats.org/officeDocument/2006/relationships/slide" Target="slide44.xml"/><Relationship Id="rId10" Type="http://schemas.openxmlformats.org/officeDocument/2006/relationships/slide" Target="slide49.xml"/><Relationship Id="rId11" Type="http://schemas.openxmlformats.org/officeDocument/2006/relationships/slide" Target="slide52.xml"/><Relationship Id="rId12" Type="http://schemas.openxmlformats.org/officeDocument/2006/relationships/slide" Target="slide53.xml"/><Relationship Id="rId13" Type="http://schemas.openxmlformats.org/officeDocument/2006/relationships/slide" Target="slide52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Shape 3"/>
          <p:cNvSpPr/>
          <p:nvPr/>
        </p:nvSpPr>
        <p:spPr>
          <a:xfrm>
            <a:off x="4123944" y="438912"/>
            <a:ext cx="38862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7" name="Text 4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8" name="Text 5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3A3D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 / 53</a:t>
            </a:r>
            <a:endParaRPr lang="en-US" sz="650" dirty="0"/>
          </a:p>
        </p:txBody>
      </p:sp>
      <p:sp>
        <p:nvSpPr>
          <p:cNvPr id="20" name="Text 17">
            <a:hlinkClick r:id="rId13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SCREEN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B8BDC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INTERACTIVE PLATFORM WALKTHROUGH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ProofShape, from zero to a defensible result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BD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role-based, step-by-step guide from account access through verified CAD, governed cost, manufacturing context, batch work, RFQ evidence, administration, and recovery.</a:t>
            </a:r>
            <a:endParaRPr lang="en-US" sz="1200" dirty="0"/>
          </a:p>
        </p:txBody>
      </p:sp>
      <p:sp>
        <p:nvSpPr>
          <p:cNvPr id="25" name="Text 22">
            <a:hlinkClick r:id="rId14" tooltip=""/>
          </p:cNvPr>
          <p:cNvSpPr/>
          <p:nvPr/>
        </p:nvSpPr>
        <p:spPr>
          <a:xfrm>
            <a:off x="475488" y="2834640"/>
            <a:ext cx="1188720" cy="356616"/>
          </a:xfrm>
          <a:prstGeom prst="rect">
            <a:avLst/>
          </a:prstGeom>
          <a:solidFill>
            <a:srgbClr val="272B31"/>
          </a:solidFill>
          <a:ln w="10160">
            <a:solidFill>
              <a:srgbClr val="4A4E5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platform  ↗</a:t>
            </a:r>
            <a:endParaRPr lang="en-US" sz="630" dirty="0"/>
          </a:p>
        </p:txBody>
      </p:sp>
      <p:sp>
        <p:nvSpPr>
          <p:cNvPr id="26" name="Shape 23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0E0F11"/>
          </a:solidFill>
          <a:ln w="10160">
            <a:solidFill>
              <a:srgbClr val="34373D"/>
            </a:solidFill>
            <a:prstDash val="solid"/>
          </a:ln>
        </p:spPr>
      </p:sp>
      <p:pic>
        <p:nvPicPr>
          <p:cNvPr id="27" name="Image 0" descr="ProofShape, from zero to a defensible result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202329"/>
          </a:solidFill>
          <a:ln w="10160">
            <a:solidFill>
              <a:srgbClr val="42464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C9CDD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30" name="Text 26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arrows, section tabs, or role menu. Check off each action as you perform it; progress stays on this device.</a:t>
            </a:r>
            <a:endParaRPr lang="en-US" sz="1020" dirty="0"/>
          </a:p>
        </p:txBody>
      </p:sp>
      <p:sp>
        <p:nvSpPr>
          <p:cNvPr id="31" name="Text 27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B8BDC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Production-candidate guide · browser-validated outcomes · updated 2026-07-13</a:t>
            </a:r>
            <a:endParaRPr lang="en-US" sz="5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Shape 3"/>
          <p:cNvSpPr/>
          <p:nvPr/>
        </p:nvSpPr>
        <p:spPr>
          <a:xfrm>
            <a:off x="4123944" y="438912"/>
            <a:ext cx="38862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7" name="Text 4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8" name="Text 5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3A3D42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SCREEN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B8BDC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STANDARD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loaded screen is not proof that the work succeeded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BD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validated path must reach its visible, durable, numerical, downloadable, authorization, and recovery outcomes on the same committed build.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 the stated action as a user would.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2D3138"/>
          </a:solidFill>
          <a:ln w="10160">
            <a:solidFill>
              <a:srgbClr val="5A5F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result to the exact expected-outcome box.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2D3138"/>
          </a:solidFill>
          <a:ln w="10160">
            <a:solidFill>
              <a:srgbClr val="5A5F6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if any identity, number, file, state, or recovery result differs.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202329"/>
          </a:solidFill>
          <a:ln w="10160">
            <a:solidFill>
              <a:srgbClr val="42464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C9CDD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LOCAL_100 is earned only when all 64 required browser and recovery contracts pass against the exact clean commit. The numbers on this slide describe the contract; they do not certify the build you are viewing.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202329"/>
          </a:solidFill>
          <a:ln w="10160">
            <a:solidFill>
              <a:srgbClr val="42464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B8BDC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local-100-golden-gate.mjs · no stale, generic, mixed-run, or dirty-build evidence accepted</a:t>
            </a:r>
            <a:endParaRPr lang="en-US" sz="910" dirty="0"/>
          </a:p>
        </p:txBody>
      </p:sp>
      <p:sp>
        <p:nvSpPr>
          <p:cNvPr id="40" name="Text 37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B8BDC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local-100-golden-gate.mjs · no stale, generic, mixed-run, or dirty-build evidence accepted</a:t>
            </a:r>
            <a:endParaRPr lang="en-US" sz="5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Shape 3"/>
          <p:cNvSpPr/>
          <p:nvPr/>
        </p:nvSpPr>
        <p:spPr>
          <a:xfrm>
            <a:off x="4123944" y="438912"/>
            <a:ext cx="38862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7" name="Text 4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8" name="Text 5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SCREEN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ROLE-BASED NAVIGATION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path that matches the work you need to finish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Access first, then choose a role. The guide will show Previous/Next in my role so you do not have to infer an itinerary.</a:t>
            </a:r>
            <a:endParaRPr lang="en-US" sz="1200" dirty="0"/>
          </a:p>
        </p:txBody>
      </p:sp>
      <p:sp>
        <p:nvSpPr>
          <p:cNvPr id="25" name="Text 22">
            <a:hlinkClick r:id="rId15" tooltip="" action="ppaction://hlinksldjump"/>
          </p:cNvPr>
          <p:cNvSpPr/>
          <p:nvPr/>
        </p:nvSpPr>
        <p:spPr>
          <a:xfrm>
            <a:off x="475488" y="2862072"/>
            <a:ext cx="3108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6D8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CAD engineer</a:t>
            </a:r>
            <a:endParaRPr lang="en-US" sz="820" dirty="0"/>
          </a:p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 and investigate CAD</a:t>
            </a:r>
            <a:endParaRPr lang="en-US" sz="820" dirty="0"/>
          </a:p>
        </p:txBody>
      </p:sp>
      <p:sp>
        <p:nvSpPr>
          <p:cNvPr id="26" name="Text 23">
            <a:hlinkClick r:id="rId16" tooltip="" action="ppaction://hlinksldjump"/>
          </p:cNvPr>
          <p:cNvSpPr/>
          <p:nvPr/>
        </p:nvSpPr>
        <p:spPr>
          <a:xfrm>
            <a:off x="3785616" y="2862072"/>
            <a:ext cx="3108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6D8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 engineer</a:t>
            </a:r>
            <a:endParaRPr lang="en-US" sz="820" dirty="0"/>
          </a:p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Create, revise, and archive</a:t>
            </a:r>
            <a:endParaRPr lang="en-US" sz="820" dirty="0"/>
          </a:p>
        </p:txBody>
      </p:sp>
      <p:sp>
        <p:nvSpPr>
          <p:cNvPr id="27" name="Text 24">
            <a:hlinkClick r:id="rId17" tooltip="" action="ppaction://hlinksldjump"/>
          </p:cNvPr>
          <p:cNvSpPr/>
          <p:nvPr/>
        </p:nvSpPr>
        <p:spPr>
          <a:xfrm>
            <a:off x="475488" y="3520440"/>
            <a:ext cx="3108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6D8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 engineer</a:t>
            </a:r>
            <a:endParaRPr lang="en-US" sz="820" dirty="0"/>
          </a:p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Cost, govern, compare, share</a:t>
            </a:r>
            <a:endParaRPr lang="en-US" sz="820" dirty="0"/>
          </a:p>
        </p:txBody>
      </p:sp>
      <p:sp>
        <p:nvSpPr>
          <p:cNvPr id="28" name="Text 25">
            <a:hlinkClick r:id="rId18" tooltip="" action="ppaction://hlinksldjump"/>
          </p:cNvPr>
          <p:cNvSpPr/>
          <p:nvPr/>
        </p:nvSpPr>
        <p:spPr>
          <a:xfrm>
            <a:off x="3785616" y="3520440"/>
            <a:ext cx="3108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6D8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Manufacturing lead</a:t>
            </a:r>
            <a:endParaRPr lang="en-US" sz="820" dirty="0"/>
          </a:p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Machines, DFM, truth, triage</a:t>
            </a:r>
            <a:endParaRPr lang="en-US" sz="820" dirty="0"/>
          </a:p>
        </p:txBody>
      </p:sp>
      <p:sp>
        <p:nvSpPr>
          <p:cNvPr id="29" name="Text 26">
            <a:hlinkClick r:id="rId19" tooltip="" action="ppaction://hlinksldjump"/>
          </p:cNvPr>
          <p:cNvSpPr/>
          <p:nvPr/>
        </p:nvSpPr>
        <p:spPr>
          <a:xfrm>
            <a:off x="475488" y="4178808"/>
            <a:ext cx="3108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6D8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Sourcing lead</a:t>
            </a:r>
            <a:endParaRPr lang="en-US" sz="820" dirty="0"/>
          </a:p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Records, compare, RFQ bundle</a:t>
            </a:r>
            <a:endParaRPr lang="en-US" sz="820" dirty="0"/>
          </a:p>
        </p:txBody>
      </p:sp>
      <p:sp>
        <p:nvSpPr>
          <p:cNvPr id="30" name="Text 27">
            <a:hlinkClick r:id="rId20" tooltip="" action="ppaction://hlinksldjump"/>
          </p:cNvPr>
          <p:cNvSpPr/>
          <p:nvPr/>
        </p:nvSpPr>
        <p:spPr>
          <a:xfrm>
            <a:off x="3785616" y="4178808"/>
            <a:ext cx="3108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6D8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Administrator</a:t>
            </a:r>
            <a:endParaRPr lang="en-US" sz="820" dirty="0"/>
          </a:p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Access, roles, keys, providers</a:t>
            </a:r>
            <a:endParaRPr lang="en-US" sz="820" dirty="0"/>
          </a:p>
        </p:txBody>
      </p:sp>
      <p:sp>
        <p:nvSpPr>
          <p:cNvPr id="31" name="Text 28">
            <a:hlinkClick r:id="rId21" tooltip="" action="ppaction://hlinksldjump"/>
          </p:cNvPr>
          <p:cNvSpPr/>
          <p:nvPr/>
        </p:nvSpPr>
        <p:spPr>
          <a:xfrm>
            <a:off x="475488" y="4837176"/>
            <a:ext cx="3108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6D8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Viewer / auditor</a:t>
            </a:r>
            <a:endParaRPr lang="en-US" sz="820" dirty="0"/>
          </a:p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evidence; prove boundaries</a:t>
            </a:r>
            <a:endParaRPr lang="en-US" sz="820" dirty="0"/>
          </a:p>
        </p:txBody>
      </p:sp>
      <p:sp>
        <p:nvSpPr>
          <p:cNvPr id="32" name="Text 29">
            <a:hlinkClick r:id="rId22" tooltip="" action="ppaction://hlinksldjump"/>
          </p:cNvPr>
          <p:cNvSpPr/>
          <p:nvPr/>
        </p:nvSpPr>
        <p:spPr>
          <a:xfrm>
            <a:off x="3785616" y="4837176"/>
            <a:ext cx="3108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6D8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 evaluator</a:t>
            </a:r>
            <a:endParaRPr lang="en-US" sz="820" dirty="0"/>
          </a:p>
          <a:p>
            <a:pPr indent="0" marL="0">
              <a:buNone/>
            </a:pPr>
            <a:r>
              <a:rPr lang="en-US" sz="820" b="1" u="sng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Assess method before an account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role; then use Next in my role until the itinerary says complete. On a PARTIAL slide, stop at the named external boundary.</a:t>
            </a:r>
            <a:endParaRPr lang="en-US" sz="1020" dirty="0"/>
          </a:p>
        </p:txBody>
      </p:sp>
      <p:sp>
        <p:nvSpPr>
          <p:cNvPr id="36" name="Shape 33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itineraries mapped to canonical browser paths and explicit provider boundaries</a:t>
            </a:r>
            <a:endParaRPr lang="en-US" sz="910" dirty="0"/>
          </a:p>
        </p:txBody>
      </p:sp>
      <p:sp>
        <p:nvSpPr>
          <p:cNvPr id="39" name="Text 36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Role itineraries mapped to canonical browser paths and explicit provider boundaries</a:t>
            </a:r>
            <a:endParaRPr lang="en-US" sz="5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Shape 3"/>
          <p:cNvSpPr/>
          <p:nvPr/>
        </p:nvSpPr>
        <p:spPr>
          <a:xfrm>
            <a:off x="4123944" y="438912"/>
            <a:ext cx="38862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7" name="Text 4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8" name="Text 5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SCREEN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 GOVERNING OBJECT MODEL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part becomes one traceable decision chain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ProofShape does not stop at a mesh or a price. Every useful result travels through a visible evidence chain.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3776" y="294436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CAD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993392" y="2944368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+ hash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493776" y="352044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Geometry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993392" y="35204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493776" y="4096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Routing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993392" y="409651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fit</a:t>
            </a:r>
            <a:endParaRPr lang="en-US" sz="920" dirty="0"/>
          </a:p>
        </p:txBody>
      </p:sp>
      <p:sp>
        <p:nvSpPr>
          <p:cNvPr id="31" name="Text 28"/>
          <p:cNvSpPr/>
          <p:nvPr/>
        </p:nvSpPr>
        <p:spPr>
          <a:xfrm>
            <a:off x="493776" y="467258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DFM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993392" y="467258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</a:t>
            </a:r>
            <a:endParaRPr lang="en-US" sz="920" dirty="0"/>
          </a:p>
        </p:txBody>
      </p:sp>
      <p:sp>
        <p:nvSpPr>
          <p:cNvPr id="33" name="Text 30"/>
          <p:cNvSpPr/>
          <p:nvPr/>
        </p:nvSpPr>
        <p:spPr>
          <a:xfrm>
            <a:off x="493776" y="524865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Cost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993392" y="524865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drivers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37" name="Text 34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an upstream stage fails, downstream stages are withheld. A blank or withheld value is never silently treated as zero.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pipeline, decision persistence, export, and history browser journeys</a:t>
            </a:r>
            <a:endParaRPr lang="en-US" sz="910" dirty="0"/>
          </a:p>
        </p:txBody>
      </p:sp>
      <p:sp>
        <p:nvSpPr>
          <p:cNvPr id="41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Verify pipeline, decision persistence, export, and history browser journeys</a:t>
            </a:r>
            <a:endParaRPr lang="en-US" sz="5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Shape 3"/>
          <p:cNvSpPr/>
          <p:nvPr/>
        </p:nvSpPr>
        <p:spPr>
          <a:xfrm>
            <a:off x="4123944" y="438912"/>
            <a:ext cx="38862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7" name="Text 4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8" name="Text 5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SCREEN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PROVENANCE LEGEND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the dots before you trust the number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identifies where a value came from. Filled dots are grounded; hollow dots are assumptions or model output.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MEASURED, SHOP, USER, or CAD values for decisions.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drivers when DEFAULT or MODEL appears.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a hatched confidence band as assumption-based, not validated.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cost, dimension, quantity, rate, source, and identifier keeps its provenance label.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token tests + enterprise methodology-fidelity gate</a:t>
            </a:r>
            <a:endParaRPr lang="en-US" sz="910" dirty="0"/>
          </a:p>
        </p:txBody>
      </p:sp>
      <p:sp>
        <p:nvSpPr>
          <p:cNvPr id="40" name="Text 37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Accessibility token tests + enterprise methodology-fidelity gate</a:t>
            </a:r>
            <a:endParaRPr lang="en-US" sz="5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Shape 3"/>
          <p:cNvSpPr/>
          <p:nvPr/>
        </p:nvSpPr>
        <p:spPr>
          <a:xfrm>
            <a:off x="4123944" y="438912"/>
            <a:ext cx="38862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7" name="Text 4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8" name="Text 5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SCREEN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ZERO-STEP CHECKLIST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Download the exact practice files before the first upload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controlled fixtures first. That separates platform behavior from an unknown customer file, then you can repeat with your own CAD.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5488" y="2834640"/>
            <a:ext cx="145938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golden cube.step  ↓</a:t>
            </a:r>
            <a:endParaRPr lang="en-US" sz="630" dirty="0"/>
          </a:p>
        </p:txBody>
      </p:sp>
      <p:sp>
        <p:nvSpPr>
          <p:cNvPr id="26" name="Text 23"/>
          <p:cNvSpPr/>
          <p:nvPr/>
        </p:nvSpPr>
        <p:spPr>
          <a:xfrm>
            <a:off x="2026310" y="2834640"/>
            <a:ext cx="152704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machine import CSV  ↓</a:t>
            </a:r>
            <a:endParaRPr lang="en-US" sz="630" dirty="0"/>
          </a:p>
        </p:txBody>
      </p:sp>
      <p:sp>
        <p:nvSpPr>
          <p:cNvPr id="27" name="Text 24"/>
          <p:cNvSpPr/>
          <p:nvPr/>
        </p:nvSpPr>
        <p:spPr>
          <a:xfrm>
            <a:off x="3644798" y="2834640"/>
            <a:ext cx="152704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one-part batch ZIP  ↓</a:t>
            </a:r>
            <a:endParaRPr lang="en-US" sz="630" dirty="0"/>
          </a:p>
        </p:txBody>
      </p:sp>
      <p:sp>
        <p:nvSpPr>
          <p:cNvPr id="28" name="Text 25"/>
          <p:cNvSpPr/>
          <p:nvPr/>
        </p:nvSpPr>
        <p:spPr>
          <a:xfrm>
            <a:off x="5263286" y="2834640"/>
            <a:ext cx="1493215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Read every fixture outcome  ↓</a:t>
            </a:r>
            <a:endParaRPr lang="en-US" sz="630" dirty="0"/>
          </a:p>
        </p:txBody>
      </p:sp>
      <p:sp>
        <p:nvSpPr>
          <p:cNvPr id="29" name="Shape 26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the ProofShape URL from your administrator or open it from this guide.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the three core fixtures and the outcome README above; do not rename or edit them.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STEP in Verify and direct Should-cost, the CSV only in Your machines, and the ZIP only in Batch. Download advanced fixtures only on their use-case slides.</a:t>
            </a:r>
            <a:endParaRPr lang="en-US" sz="930" dirty="0"/>
          </a:p>
        </p:txBody>
      </p:sp>
      <p:sp>
        <p:nvSpPr>
          <p:cNvPr id="38" name="Shape 35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golden STEP is exactly 19,030 bytes with SHA-256 76923244…61103a. Every downloadable fixture is independently hashed and parsed by the release suite; the README names its exact accepted and rejected outcomes.</a:t>
            </a:r>
            <a:endParaRPr lang="en-US" sz="1020" dirty="0"/>
          </a:p>
        </p:txBody>
      </p:sp>
      <p:sp>
        <p:nvSpPr>
          <p:cNvPr id="41" name="Shape 38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Fixture bytes + parser contracts + deck download/re-hash QA</a:t>
            </a:r>
            <a:endParaRPr lang="en-US" sz="910" dirty="0"/>
          </a:p>
        </p:txBody>
      </p:sp>
      <p:sp>
        <p:nvSpPr>
          <p:cNvPr id="44" name="Text 41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Fixture bytes + parser contracts + deck download/re-hash QA</a:t>
            </a:r>
            <a:endParaRPr lang="en-US" sz="5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Shape 4"/>
          <p:cNvSpPr/>
          <p:nvPr/>
        </p:nvSpPr>
        <p:spPr>
          <a:xfrm>
            <a:off x="4649724" y="438912"/>
            <a:ext cx="431597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8" name="Text 5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3A3D42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B8BDC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FIRST ACCESS DECISION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access method the screen actually offers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BD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ProofShape supports distinct password, verified email-link, invitation, and enterprise SSO paths. Do not substitute one path for another.</a:t>
            </a:r>
            <a:endParaRPr lang="en-US" sz="120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170432" cy="356616"/>
          </a:xfrm>
          <a:prstGeom prst="rect">
            <a:avLst/>
          </a:prstGeom>
          <a:solidFill>
            <a:srgbClr val="272B31"/>
          </a:solidFill>
          <a:ln w="10160">
            <a:solidFill>
              <a:srgbClr val="4A4E5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sign in  ↗</a:t>
            </a:r>
            <a:endParaRPr lang="en-US" sz="630" dirty="0"/>
          </a:p>
        </p:txBody>
      </p:sp>
      <p:sp>
        <p:nvSpPr>
          <p:cNvPr id="26" name="Text 23">
            <a:hlinkClick r:id="rId16" tooltip=""/>
          </p:cNvPr>
          <p:cNvSpPr/>
          <p:nvPr/>
        </p:nvSpPr>
        <p:spPr>
          <a:xfrm>
            <a:off x="1737360" y="2834640"/>
            <a:ext cx="1170432" cy="356616"/>
          </a:xfrm>
          <a:prstGeom prst="rect">
            <a:avLst/>
          </a:prstGeom>
          <a:solidFill>
            <a:srgbClr val="272B31"/>
          </a:solidFill>
          <a:ln w="10160">
            <a:solidFill>
              <a:srgbClr val="4A4E5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sign up  ↗</a:t>
            </a:r>
            <a:endParaRPr lang="en-US" sz="630" dirty="0"/>
          </a:p>
        </p:txBody>
      </p:sp>
      <p:sp>
        <p:nvSpPr>
          <p:cNvPr id="27" name="Shape 24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Sign up and read the offered method before entering anything.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2D3138"/>
          </a:solidFill>
          <a:ln w="10160">
            <a:solidFill>
              <a:srgbClr val="5A5F6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email-link is offered, request the one-time link and open it in the same browser; then optionally set a password in Security.</a:t>
            </a:r>
            <a:endParaRPr lang="en-US" sz="930" dirty="0"/>
          </a:p>
        </p:txBody>
      </p:sp>
      <p:sp>
        <p:nvSpPr>
          <p:cNvPr id="33" name="Shape 30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2D3138"/>
          </a:solidFill>
          <a:ln w="10160">
            <a:solidFill>
              <a:srgbClr val="5A5F6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SSO is offered, use the named organization provider.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2D3138"/>
          </a:solidFill>
          <a:ln w="10160">
            <a:solidFill>
              <a:srgbClr val="5A5F6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direct email/password signup only when the screen explicitly offers it; the local development build does.</a:t>
            </a:r>
            <a:endParaRPr lang="en-US" sz="930" dirty="0"/>
          </a:p>
        </p:txBody>
      </p:sp>
      <p:sp>
        <p:nvSpPr>
          <p:cNvPr id="39" name="Shape 36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0E0F11"/>
          </a:solidFill>
          <a:ln w="10160">
            <a:solidFill>
              <a:srgbClr val="34373D"/>
            </a:solidFill>
            <a:prstDash val="solid"/>
          </a:ln>
        </p:spPr>
      </p:sp>
      <p:pic>
        <p:nvPicPr>
          <p:cNvPr id="40" name="Image 0" descr="Use the access method the screen actually offers platform evidence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202329"/>
          </a:solidFill>
          <a:ln w="10160">
            <a:solidFill>
              <a:srgbClr val="42464D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C9CDD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3" name="Text 39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 access lands on /verify and shows DAY ZERO SETUP. Weak credentials, expired links, wrong invited identities, and unsafe return paths are rejected without creating a false session.</a:t>
            </a:r>
            <a:endParaRPr lang="en-US" sz="1020" dirty="0"/>
          </a:p>
        </p:txBody>
      </p:sp>
      <p:sp>
        <p:nvSpPr>
          <p:cNvPr id="44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B8BDC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AUTH-01–05 · password/email-link exchange · safe-return-path regressions</a:t>
            </a:r>
            <a:endParaRPr lang="en-US" sz="5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Shape 4"/>
          <p:cNvSpPr/>
          <p:nvPr/>
        </p:nvSpPr>
        <p:spPr>
          <a:xfrm>
            <a:off x="4649724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8" name="Text 5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AA721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PARTIAL · EXTERNAL GATE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PASSWORD · EMAIL LINK · SSO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 which access branches are locally proven and which need a real provider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contracts for all three modes are tested. Production email delivery and a customer IdP cannot be certified with local stand-ins.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branch: enter the registered email and password, then confirm the requested safe page opens.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Email-link branch: enter the email, pass Turnstile when configured, open the single-use link, then confirm replay fails.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SSO branch: choose the configured provider, complete its test-tenant policy, and return through the signed callback.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any branch, sign out and confirm protected routes return to login.</a:t>
            </a:r>
            <a:endParaRPr lang="en-US" sz="930" dirty="0"/>
          </a:p>
        </p:txBody>
      </p:sp>
      <p:sp>
        <p:nvSpPr>
          <p:cNvPr id="37" name="Shape 34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AA721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VALIDATED SCOPE / REMAINING GATE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password and token-exchange contracts are validated. PARTIAL remains until the real email domain, Turnstile, and production IdP test tenant each pass delivery, expiry, replay, group, and logout acceptance.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canonical matrix · live email/Turnstile/IdP acceptance remains external</a:t>
            </a:r>
            <a:endParaRPr lang="en-US" sz="910" dirty="0"/>
          </a:p>
        </p:txBody>
      </p:sp>
      <p:sp>
        <p:nvSpPr>
          <p:cNvPr id="43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Auth canonical matrix · live email/Turnstile/IdP acceptance remains external</a:t>
            </a:r>
            <a:endParaRPr lang="en-US" sz="5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Shape 4"/>
          <p:cNvSpPr/>
          <p:nvPr/>
        </p:nvSpPr>
        <p:spPr>
          <a:xfrm>
            <a:off x="4649724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8" name="Text 5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INVITATION LIFECYCLE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organization invitation belongs only to the invited identity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token does not replace authentication. Sign in as the exact invited email, then redeem it once.</a:t>
            </a:r>
            <a:endParaRPr lang="en-US" sz="120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493215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organization settings  ↗</a:t>
            </a:r>
            <a:endParaRPr lang="en-US" sz="630" dirty="0"/>
          </a:p>
        </p:txBody>
      </p:sp>
      <p:sp>
        <p:nvSpPr>
          <p:cNvPr id="26" name="Shape 23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an organization admin, enter the recipient’s permanent email and least-privileged role; select Send invite.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acceptance URL through the approved delivery channel.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separate browser, authenticate as that exact email, then open the acceptance URL.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membership and role; prove a second redemption, wrong identity, expired link, or revoked invite cannot grant access.</a:t>
            </a:r>
            <a:endParaRPr lang="en-US" sz="930" dirty="0"/>
          </a:p>
        </p:txBody>
      </p:sp>
      <p:sp>
        <p:nvSpPr>
          <p:cNvPr id="38" name="Shape 35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active membership is created for the invited identity at the intended role. Revocation and replay are durable; neither a token leak nor a different signed-in user can join the organization.</a:t>
            </a:r>
            <a:endParaRPr lang="en-US" sz="1020" dirty="0"/>
          </a:p>
        </p:txBody>
      </p:sp>
      <p:sp>
        <p:nvSpPr>
          <p:cNvPr id="41" name="Shape 38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AUTH-03 · ROLE-03 invitation create/revoke/accept boundary</a:t>
            </a:r>
            <a:endParaRPr lang="en-US" sz="910" dirty="0"/>
          </a:p>
        </p:txBody>
      </p:sp>
      <p:sp>
        <p:nvSpPr>
          <p:cNvPr id="44" name="Text 41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AUTH-03 · ROLE-03 invitation create/revoke/accept boundary</a:t>
            </a:r>
            <a:endParaRPr lang="en-US" sz="5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Shape 4"/>
          <p:cNvSpPr/>
          <p:nvPr/>
        </p:nvSpPr>
        <p:spPr>
          <a:xfrm>
            <a:off x="4649724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8" name="Text 5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PASSWORD AND SESSION HYGIENE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Finish account setup, then prove the session can end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Email-link users may initialize a password once when the configured auth mode allows it. Every user must be able to sign out cleanly.</a:t>
            </a:r>
            <a:endParaRPr lang="en-US" sz="120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17043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Security  ↗</a:t>
            </a:r>
            <a:endParaRPr lang="en-US" sz="630" dirty="0"/>
          </a:p>
        </p:txBody>
      </p:sp>
      <p:sp>
        <p:nvSpPr>
          <p:cNvPr id="26" name="Shape 23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Security and read the configured auth mode.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Initial password is available, enter matching values that meet the displayed policy and submit once.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out from the account menu; use Back and refresh on a protected route.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in again through the approved method and confirm the intended tenant—not another recent tenant—opens.</a:t>
            </a:r>
            <a:endParaRPr lang="en-US" sz="930" dirty="0"/>
          </a:p>
        </p:txBody>
      </p:sp>
      <p:sp>
        <p:nvSpPr>
          <p:cNvPr id="38" name="Shape 35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initialization never weakens email-link recovery; sign-out removes the session, protected pages stay protected after Back/refresh, and a new login restores only authorized tenant state.</a:t>
            </a:r>
            <a:endParaRPr lang="en-US" sz="1020" dirty="0"/>
          </a:p>
        </p:txBody>
      </p:sp>
      <p:sp>
        <p:nvSpPr>
          <p:cNvPr id="41" name="Shape 38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AUTH-02/05/07/08 · session boundary and password initialization</a:t>
            </a:r>
            <a:endParaRPr lang="en-US" sz="910" dirty="0"/>
          </a:p>
        </p:txBody>
      </p:sp>
      <p:sp>
        <p:nvSpPr>
          <p:cNvPr id="44" name="Text 41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AUTH-02/05/07/08 · session boundary and password initialization</a:t>
            </a:r>
            <a:endParaRPr lang="en-US" sz="5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Shape 4"/>
          <p:cNvSpPr/>
          <p:nvPr/>
        </p:nvSpPr>
        <p:spPr>
          <a:xfrm>
            <a:off x="4649724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8" name="Text 5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11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FIRST AUTHENTICATED SCREEN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Zero tells you what is real—and what is empty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new organization starts with no seeded machines, records, actuals, or program context.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four setup steps.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Verify when you need the first useful result now.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later to Your machines, Programs, and Calibration &amp; truth to ground the economics.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5" name="Image 0" descr="Day Zero tells you what is real—and what is empty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38" name="Text 34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counters start at zero. Opening or revisiting a section does not invent or mutate tenant data.</a:t>
            </a:r>
            <a:endParaRPr lang="en-US" sz="1020" dirty="0"/>
          </a:p>
        </p:txBody>
      </p:sp>
      <p:sp>
        <p:nvSpPr>
          <p:cNvPr id="39" name="Text 35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VER-01/02 · public/auth golden matrix</a:t>
            </a:r>
            <a:endParaRPr lang="en-US" sz="59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Shape 4"/>
          <p:cNvSpPr/>
          <p:nvPr/>
        </p:nvSpPr>
        <p:spPr>
          <a:xfrm>
            <a:off x="4649724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8" name="Text 5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NAVIGATION THAT SCALES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rail for domains; use Jump for intent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Desktop, mobile selector, command palette, back/forward, refresh, and restart journeys preserve the user’s place and record identity.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left rail to open Verify, Design Studio, Cost decisions, Analyze DFM, or Batch.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Jump or press ⌘K / Ctrl+K.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triage and press Enter.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browser Back and Forward; confirm the same record remains selected.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Use the rail for domains; use Jump for intent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requested surface opens, focus remains usable, and navigation never substitutes a different tenant, design, revision, or decision.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AUTH-07/08 · VER-09 · mobile responsive-loop oracle</a:t>
            </a:r>
            <a:endParaRPr lang="en-US" sz="5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Shape 4"/>
          <p:cNvSpPr/>
          <p:nvPr/>
        </p:nvSpPr>
        <p:spPr>
          <a:xfrm>
            <a:off x="4649724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8" name="Text 5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13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READ, DISMISS, RESTORE, AND RETURN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Notifications are durable work state—not decorative toast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Unread counts, destinations, dismissal, restoration, mark-all-read, refresh, logout/login, and deletion behavior are browser-validated.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Notifications and select a row by its accessible title.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Return, dismiss it, then restore it.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all read and refresh the page.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out and back in; confirm the durable state remains.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Notifications are durable work state—not decorative toast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destination is correct, unread count reaches zero, read and dismissal timestamps survive the session boundary, and deleting the source produces an honest not-found state.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VER-04 · ROLE-04 · FAIL-09 notification matrix</a:t>
            </a:r>
            <a:endParaRPr lang="en-US" sz="5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Shape 4"/>
          <p:cNvSpPr/>
          <p:nvPr/>
        </p:nvSpPr>
        <p:spPr>
          <a:xfrm>
            <a:off x="4649724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8" name="Text 5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14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PUBLIC EVALUATOR PATH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Evaluate the method and boundaries before creating an account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public site explains the platform, method, security posture, team use cases, and API boundary without exposing tenant data.</a:t>
            </a:r>
            <a:endParaRPr lang="en-US" sz="120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17043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the method  ↗</a:t>
            </a:r>
            <a:endParaRPr lang="en-US" sz="630" dirty="0"/>
          </a:p>
        </p:txBody>
      </p:sp>
      <p:sp>
        <p:nvSpPr>
          <p:cNvPr id="26" name="Text 23">
            <a:hlinkClick r:id="rId16" tooltip=""/>
          </p:cNvPr>
          <p:cNvSpPr/>
          <p:nvPr/>
        </p:nvSpPr>
        <p:spPr>
          <a:xfrm>
            <a:off x="1737360" y="2834640"/>
            <a:ext cx="117043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platform  ↗</a:t>
            </a:r>
            <a:endParaRPr lang="en-US" sz="630" dirty="0"/>
          </a:p>
        </p:txBody>
      </p:sp>
      <p:sp>
        <p:nvSpPr>
          <p:cNvPr id="27" name="Text 24">
            <a:hlinkClick r:id="rId17" tooltip=""/>
          </p:cNvPr>
          <p:cNvSpPr/>
          <p:nvPr/>
        </p:nvSpPr>
        <p:spPr>
          <a:xfrm>
            <a:off x="2999232" y="2834640"/>
            <a:ext cx="117043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Review security  ↗</a:t>
            </a:r>
            <a:endParaRPr lang="en-US" sz="630" dirty="0"/>
          </a:p>
        </p:txBody>
      </p:sp>
      <p:sp>
        <p:nvSpPr>
          <p:cNvPr id="28" name="Text 25">
            <a:hlinkClick r:id="rId18" tooltip=""/>
          </p:cNvPr>
          <p:cNvSpPr/>
          <p:nvPr/>
        </p:nvSpPr>
        <p:spPr>
          <a:xfrm>
            <a:off x="4261104" y="2834640"/>
            <a:ext cx="1256386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developer docs  ↗</a:t>
            </a:r>
            <a:endParaRPr lang="en-US" sz="630" dirty="0"/>
          </a:p>
        </p:txBody>
      </p:sp>
      <p:sp>
        <p:nvSpPr>
          <p:cNvPr id="29" name="Shape 26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each public page in a private browser with no ProofShape session.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method claims with the visible provenance and confidence language.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calls to protected organization, decision, machine, and batch APIs are rejected.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account only when you are ready to use a private workspace.</a:t>
            </a:r>
            <a:endParaRPr lang="en-US" sz="1020" dirty="0"/>
          </a:p>
        </p:txBody>
      </p:sp>
      <p:sp>
        <p:nvSpPr>
          <p:cNvPr id="41" name="Shape 38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content loads without tenant facts; protected data remains 401/redirected; public claims never imply a live supplier send, certified quote, or configured customer provider.</a:t>
            </a:r>
            <a:endParaRPr lang="en-US" sz="1020" dirty="0"/>
          </a:p>
        </p:txBody>
      </p:sp>
      <p:sp>
        <p:nvSpPr>
          <p:cNvPr id="44" name="Shape 41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6" name="Text 43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PUBLIC-01–04 · unauthenticated tenant-boundary matrix</a:t>
            </a:r>
            <a:endParaRPr lang="en-US" sz="910" dirty="0"/>
          </a:p>
        </p:txBody>
      </p:sp>
      <p:sp>
        <p:nvSpPr>
          <p:cNvPr id="47" name="Text 44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PUBLIC-01–04 · unauthenticated tenant-boundary matrix</a:t>
            </a:r>
            <a:endParaRPr lang="en-US" sz="59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Shape 5"/>
          <p:cNvSpPr/>
          <p:nvPr/>
        </p:nvSpPr>
        <p:spPr>
          <a:xfrm>
            <a:off x="5218481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15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CASE · VERIFY EXISTING CAD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Drop one real CAD file and wait for a terminal result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Verify workspace runs geometry, routing, DFM, and should-cost against the same uploaded bytes.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Verify workspace, then select Verify in the internal rail.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or choose cube.step.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navigate away while Measured geometry is running.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until geometry, routing, DFM, and cost stop changing.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Drop one real CAD file and wait for a terminal result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golden file completes—without “temporarily busy” or tessellation error—and creates a durable cost decision.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VER-05 · training-guide semantic oracle</a:t>
            </a:r>
            <a:endParaRPr lang="en-US" sz="59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Shape 5"/>
          <p:cNvSpPr/>
          <p:nvPr/>
        </p:nvSpPr>
        <p:spPr>
          <a:xfrm>
            <a:off x="5218481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16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SCREEN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 SANITY CHECK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 geometry before reading the recommendation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plausible recommendation on the wrong geometry is still wrong. Verify the measured facts first.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full evidence SHA-256 is 76923244d66efcbf1eb1639a26a6b4b6bd20fd73eaf44ad1b95268dddf61103a.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sorted envelope is 10 × 15 × 20 mm within 0.1 mm.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normalized volume is 2.72 cm³ ±0.005 and area is 14.32 cm² ±0.02.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watertight true, make-now fdm, quantities 1/100/1000/2000/5000/10000, and 48 estimate rows before acting.</a:t>
            </a:r>
            <a:endParaRPr lang="en-US" sz="930" dirty="0"/>
          </a:p>
        </p:txBody>
      </p:sp>
      <p:sp>
        <p:nvSpPr>
          <p:cNvPr id="37" name="Shape 34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UI and reopened private decision show the exact source SHA-256. Geometry, fdm make-now route, 923-unit crossover, six recommendation points, and 48 estimate rows match the versioned golden oracle; model-derived prices remain explicitly assumption-based.</a:t>
            </a:r>
            <a:endParaRPr lang="en-US" sz="920" dirty="0"/>
          </a:p>
        </p:txBody>
      </p:sp>
      <p:sp>
        <p:nvSpPr>
          <p:cNvPr id="40" name="Shape 37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INPUT-INTEGRITY-001 · DISPLAY-FIDELITY-001 · training-guide pinned cost oracle</a:t>
            </a:r>
            <a:endParaRPr lang="en-US" sz="910" dirty="0"/>
          </a:p>
        </p:txBody>
      </p:sp>
      <p:sp>
        <p:nvSpPr>
          <p:cNvPr id="43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INPUT-INTEGRITY-001 · DISPLAY-FIDELITY-001 · training-guide pinned cost oracle</a:t>
            </a:r>
            <a:endParaRPr lang="en-US" sz="59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Shape 5"/>
          <p:cNvSpPr/>
          <p:nvPr/>
        </p:nvSpPr>
        <p:spPr>
          <a:xfrm>
            <a:off x="5218481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17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DECISION AND DISPOSITION BRANCHES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recommendation, blockers, drivers, then record the action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Recommendation, notes, governance, and every supported disposition are persisted and reopened through the browser.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Make now and the recommended process.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routing and DFM; inspect linked evidence.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cost drivers; inspect DEFAULT or MODEL inputs.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make in-house, outside, acquire, or redesign and add a note.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choice and trimmed/empty note round-trips exactly; approve, reopen, stale, reload, and unchanged-artifact checks preserve the underlying calculation.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VER-06/07 · WORK-05 notification/decision matrix</a:t>
            </a:r>
            <a:endParaRPr lang="en-US" sz="910" dirty="0"/>
          </a:p>
        </p:txBody>
      </p:sp>
      <p:sp>
        <p:nvSpPr>
          <p:cNvPr id="43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VER-06/07 · WORK-05 notification/decision matrix</a:t>
            </a:r>
            <a:endParaRPr lang="en-US" sz="59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Shape 5"/>
          <p:cNvSpPr/>
          <p:nvPr/>
        </p:nvSpPr>
        <p:spPr>
          <a:xfrm>
            <a:off x="5218481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18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DIRECT DFM ANALYSIS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Analyze DFM when manufacturability—not cost—is the question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intended process and governed rule pack before upload; a finding must identify what failed, where, why, and what to change.</a:t>
            </a:r>
            <a:endParaRPr lang="en-US" sz="120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17043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Analyze DFM  ↗</a:t>
            </a:r>
            <a:endParaRPr lang="en-US" sz="630" dirty="0"/>
          </a:p>
        </p:txBody>
      </p:sp>
      <p:sp>
        <p:nvSpPr>
          <p:cNvPr id="26" name="Text 23"/>
          <p:cNvSpPr/>
          <p:nvPr/>
        </p:nvSpPr>
        <p:spPr>
          <a:xfrm>
            <a:off x="1737360" y="2834640"/>
            <a:ext cx="145938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golden cube.step  ↓</a:t>
            </a:r>
            <a:endParaRPr lang="en-US" sz="630" dirty="0"/>
          </a:p>
        </p:txBody>
      </p:sp>
      <p:sp>
        <p:nvSpPr>
          <p:cNvPr id="27" name="Shape 24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Analyze DFM and select the real target process; choose a rule pack only when it applies to this part.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the golden STEP and wait for a terminal analysis.</a:t>
            </a:r>
            <a:endParaRPr lang="en-US" sz="930" dirty="0"/>
          </a:p>
        </p:txBody>
      </p:sp>
      <p:sp>
        <p:nvSpPr>
          <p:cNvPr id="33" name="Shape 30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each required-fix or advisory row; read code, severity, measured/required values, remediation, scope, and citation.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any face/geometry link and confirm it selects the corresponding region before sharing the result.</a:t>
            </a:r>
            <a:endParaRPr lang="en-US" sz="930" dirty="0"/>
          </a:p>
        </p:txBody>
      </p:sp>
      <p:sp>
        <p:nvSpPr>
          <p:cNvPr id="39" name="Shape 36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persists under the exact bytes + process set + units + rule-pack version. Every displayed finding has structured severity/remediation/scope; localized findings link to geometry and governed findings retain citations.</a:t>
            </a:r>
            <a:endParaRPr lang="en-US" sz="1020" dirty="0"/>
          </a:p>
        </p:txBody>
      </p:sp>
      <p:sp>
        <p:nvSpPr>
          <p:cNvPr id="42" name="Shape 39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WORK-02 · exact analysis-variant/rule-pack cache regressions</a:t>
            </a:r>
            <a:endParaRPr lang="en-US" sz="910" dirty="0"/>
          </a:p>
        </p:txBody>
      </p:sp>
      <p:sp>
        <p:nvSpPr>
          <p:cNvPr id="45" name="Text 42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WORK-02 · exact analysis-variant/rule-pack cache regressions</a:t>
            </a:r>
            <a:endParaRPr lang="en-US" sz="59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Shape 5"/>
          <p:cNvSpPr/>
          <p:nvPr/>
        </p:nvSpPr>
        <p:spPr>
          <a:xfrm>
            <a:off x="5218481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19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BASIC TO ADVERSARIAL CAD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Units, aliases, malformed bytes, and tolerance edges fail honestly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aliases and unit variants complete; mislabeled, empty, oversized, corrupted, and boundary cases produce bounded recovery instead of fabricated geometry.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5488" y="2834640"/>
            <a:ext cx="176387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valid-but-unmeshable STEP  ↓</a:t>
            </a:r>
            <a:endParaRPr lang="en-US" sz="630" dirty="0"/>
          </a:p>
        </p:txBody>
      </p:sp>
      <p:sp>
        <p:nvSpPr>
          <p:cNvPr id="26" name="Shape 23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STEP/STP, IGES/IGS, or STL bytes with the correct extension.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inch-derived fixtures normalize to millimetres.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designated test tenant, upload the wire-only fixture above and read the geometry-specific recovery message.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the actual file—not merely its filename—and retry once.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corpus files preserve exact geometry contracts. The wire-only STEP is structurally valid but has no tessellatable solid/shell, so it returns the documented bounded error and creates no analysis or cost evidence. Prior records and machine inventory remain unchanged.</a:t>
            </a:r>
            <a:endParaRPr lang="en-US" sz="920" dirty="0"/>
          </a:p>
        </p:txBody>
      </p:sp>
      <p:sp>
        <p:nvSpPr>
          <p:cNvPr id="41" name="Shape 38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CAD-01–09 · VER-05 · FAIL-01/02 · wire fixture SHA a5d464dc…23a7</a:t>
            </a:r>
            <a:endParaRPr lang="en-US" sz="910" dirty="0"/>
          </a:p>
        </p:txBody>
      </p:sp>
      <p:sp>
        <p:nvSpPr>
          <p:cNvPr id="44" name="Text 41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CAD-01–09 · VER-05 · FAIL-01/02 · wire fixture SHA a5d464dc…23a7</a:t>
            </a:r>
            <a:endParaRPr lang="en-US" sz="59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Shape 5"/>
          <p:cNvSpPr/>
          <p:nvPr/>
        </p:nvSpPr>
        <p:spPr>
          <a:xfrm>
            <a:off x="5218481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PORTFOLIO WORK QUEUE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Parts to find a part; use Triage to decide what needs attention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Parts is the durable catalog. Triage is a filtered, explainable queue over those same identities—not a second copy of the data.</a:t>
            </a:r>
            <a:endParaRPr lang="en-US" sz="120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17043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Parts  ↗</a:t>
            </a:r>
            <a:endParaRPr lang="en-US" sz="630" dirty="0"/>
          </a:p>
        </p:txBody>
      </p:sp>
      <p:sp>
        <p:nvSpPr>
          <p:cNvPr id="26" name="Text 23">
            <a:hlinkClick r:id="rId16" tooltip=""/>
          </p:cNvPr>
          <p:cNvSpPr/>
          <p:nvPr/>
        </p:nvSpPr>
        <p:spPr>
          <a:xfrm>
            <a:off x="1737360" y="2834640"/>
            <a:ext cx="117043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Triage  ↗</a:t>
            </a:r>
            <a:endParaRPr lang="en-US" sz="630" dirty="0"/>
          </a:p>
        </p:txBody>
      </p:sp>
      <p:sp>
        <p:nvSpPr>
          <p:cNvPr id="27" name="Text 24"/>
          <p:cNvSpPr/>
          <p:nvPr/>
        </p:nvSpPr>
        <p:spPr>
          <a:xfrm>
            <a:off x="2999232" y="2834640"/>
            <a:ext cx="145938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parts-master map  ↓</a:t>
            </a:r>
            <a:endParaRPr lang="en-US" sz="630" dirty="0"/>
          </a:p>
        </p:txBody>
      </p:sp>
      <p:sp>
        <p:nvSpPr>
          <p:cNvPr id="28" name="Text 25"/>
          <p:cNvSpPr/>
          <p:nvPr/>
        </p:nvSpPr>
        <p:spPr>
          <a:xfrm>
            <a:off x="4550054" y="2834640"/>
            <a:ext cx="1594714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mixed parts manifest  ↓</a:t>
            </a:r>
            <a:endParaRPr lang="en-US" sz="630" dirty="0"/>
          </a:p>
        </p:txBody>
      </p:sp>
      <p:sp>
        <p:nvSpPr>
          <p:cNvPr id="29" name="Shape 26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Parts; filter Costed, Drafted, With findings, or No findings and open a row by exact part identity.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the map with the unmodified cube.step through the labeled parts-master onboarding control; confirm cube.step onboards, missing.step is reported missing, and mapping line 4 is rejected.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Triage; choose the exception class and review the reason each part entered the queue.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 triaged part, act on its source record, then return and confirm the rollup updates without changing unrelated rows.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 filters, saved views, triage counts, and detail links reference the same organization-scoped part/hash. The fixture map parses two rows and rejects line 4; onboarding creates one real cube identity, reports missing.step, and fabricates no placeholder geometry.</a:t>
            </a:r>
            <a:endParaRPr lang="en-US" sz="920" dirty="0"/>
          </a:p>
        </p:txBody>
      </p:sp>
      <p:sp>
        <p:nvSpPr>
          <p:cNvPr id="44" name="Shape 41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6" name="Text 43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ENT-04/05 · Parts master and triage gates · fixture SHAs 118e15d1…ac5 / 567fc0c2…1268</a:t>
            </a:r>
            <a:endParaRPr lang="en-US" sz="910" dirty="0"/>
          </a:p>
        </p:txBody>
      </p:sp>
      <p:sp>
        <p:nvSpPr>
          <p:cNvPr id="47" name="Text 44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ENT-04/05 · Parts master and triage gates · fixture SHAs 118e15d1…ac5 / 567fc0c2…1268</a:t>
            </a:r>
            <a:endParaRPr lang="en-US" sz="59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Shape 5"/>
          <p:cNvSpPr/>
          <p:nvPr/>
        </p:nvSpPr>
        <p:spPr>
          <a:xfrm>
            <a:off x="5218481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IMMUTABLE LOOKUP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Records and History to reopen the exact evidence—not just the filename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filename may have many analyses and decisions. Open by record ID, timestamp, process context, and linked source identity.</a:t>
            </a:r>
            <a:endParaRPr lang="en-US" sz="120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17043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Records  ↗</a:t>
            </a:r>
            <a:endParaRPr lang="en-US" sz="630" dirty="0"/>
          </a:p>
        </p:txBody>
      </p:sp>
      <p:sp>
        <p:nvSpPr>
          <p:cNvPr id="26" name="Text 23">
            <a:hlinkClick r:id="rId16" tooltip=""/>
          </p:cNvPr>
          <p:cNvSpPr/>
          <p:nvPr/>
        </p:nvSpPr>
        <p:spPr>
          <a:xfrm>
            <a:off x="1737360" y="2834640"/>
            <a:ext cx="1324051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analysis history  ↗</a:t>
            </a:r>
            <a:endParaRPr lang="en-US" sz="630" dirty="0"/>
          </a:p>
        </p:txBody>
      </p:sp>
      <p:sp>
        <p:nvSpPr>
          <p:cNvPr id="27" name="Text 24">
            <a:hlinkClick r:id="rId17" tooltip=""/>
          </p:cNvPr>
          <p:cNvSpPr/>
          <p:nvPr/>
        </p:nvSpPr>
        <p:spPr>
          <a:xfrm>
            <a:off x="3152851" y="2834640"/>
            <a:ext cx="118872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cost history  ↗</a:t>
            </a:r>
            <a:endParaRPr lang="en-US" sz="630" dirty="0"/>
          </a:p>
        </p:txBody>
      </p:sp>
      <p:sp>
        <p:nvSpPr>
          <p:cNvPr id="28" name="Shape 25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Records and locate the expected filename; compare record ID, status, timestamp, and governing context.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row and follow its linked analysis and decision IDs.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Refresh, use Back/Forward, and reopen from History.</a:t>
            </a:r>
            <a:endParaRPr lang="en-US" sz="930" dirty="0"/>
          </a:p>
        </p:txBody>
      </p:sp>
      <p:sp>
        <p:nvSpPr>
          <p:cNvPr id="37" name="Shape 34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source was deleted or revoked, confirm the old destination reports unavailable rather than selecting a different same-name record.</a:t>
            </a:r>
            <a:endParaRPr lang="en-US" sz="930" dirty="0"/>
          </a:p>
        </p:txBody>
      </p:sp>
      <p:sp>
        <p:nvSpPr>
          <p:cNvPr id="40" name="Shape 37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immutable IDs, bytes/hash, analysis variant, cost decision, governance, and source links survive navigation. Missing sources fail honestly; history never substitutes newest-by-filename.</a:t>
            </a:r>
            <a:endParaRPr lang="en-US" sz="1020" dirty="0"/>
          </a:p>
        </p:txBody>
      </p:sp>
      <p:sp>
        <p:nvSpPr>
          <p:cNvPr id="43" name="Shape 40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VER-04/09 · ENT-05 · durable record and source-identity oracles</a:t>
            </a:r>
            <a:endParaRPr lang="en-US" sz="910" dirty="0"/>
          </a:p>
        </p:txBody>
      </p:sp>
      <p:sp>
        <p:nvSpPr>
          <p:cNvPr id="46" name="Text 43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VER-04/09 · ENT-05 · durable record and source-identity oracles</a:t>
            </a:r>
            <a:endParaRPr lang="en-US" sz="59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Shape 5"/>
          <p:cNvSpPr/>
          <p:nvPr/>
        </p:nvSpPr>
        <p:spPr>
          <a:xfrm>
            <a:off x="5218481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22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COMPLEX ENGINEERING CONTEXT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part can carry parent assembly and service-world context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identity, coordinate system, transform, service environment, and seated render evidence stay attached to the verified part.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the part to its parent assembly and program.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Declare material exposure, pressure, temperature, and corrosive environment.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Verify stage and inspect the parent-context panel.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between stages and reopen the record.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A part can carry parent assembly and service-world context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parent, part, transform, and service values survive navigation; synthetic assembly fixtures render a real visual change from exploded to seated state.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ENT-03/05 · assembly-visual-fidelity supplemental gate</a:t>
            </a:r>
            <a:endParaRPr lang="en-US" sz="59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Shape 6"/>
          <p:cNvSpPr/>
          <p:nvPr/>
        </p:nvSpPr>
        <p:spPr>
          <a:xfrm>
            <a:off x="5787238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23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CASE · DESIGN STUDIO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Describe only geometry the safe release can represent exactly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Studio is intentionally bounded: mounting plate, L bracket, or open enclosure. Unsupported freeform requests are rejected—not approximated.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Design Studio.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a plate, L bracket, or open enclosure with explicit millimetre dimensions.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Interpret safely.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every extracted field before generation.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Describe only geometry the safe release can represent exactly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unsupported turbine or freeform request creates no project. Missing, contradictory, and unsafe dimensions are named instead of guessed.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DES-01–04 · Design Studio golden matrix</a:t>
            </a:r>
            <a:endParaRPr lang="en-US" sz="59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Shape 6"/>
          <p:cNvSpPr/>
          <p:nvPr/>
        </p:nvSpPr>
        <p:spPr>
          <a:xfrm>
            <a:off x="5787238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24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MOUNTING PLATE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 the golden plate from exact dimensions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validated sentence to learn the interpretation and generation pattern.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Enter: 120 × 70 × 8 mm plate with four 10 mm corner holes.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Interpret safely; confirm 120, 70, 8, 10, and 8.4 mm inset.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Generate design.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for Ready before downloading or verifying.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Generate the golden plate from exact dimensions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preview shows a plate with four holes; envelope is 120 × 70 × 8 mm and volume is 64.69 cm³, with deterministic STEP bytes and hash.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DES-05 · structured artifact/hash oracle</a:t>
            </a:r>
            <a:endParaRPr lang="en-US" sz="59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Shape 6"/>
          <p:cNvSpPr/>
          <p:nvPr/>
        </p:nvSpPr>
        <p:spPr>
          <a:xfrm>
            <a:off x="5787238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25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IMMUTABLE REVISION HISTORY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revision creates R2; it never edits R1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 history protects the answer to “which file did we quote?” even after refresh and archive/restore.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Revise on the plate.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width from 120 to 130 mm.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the revision and wait for Ready.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R1 in Revision history to prove the prior evidence still exists.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A revision creates R2; it never edits R1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 becomes current at 130 × 70 × 8 mm; R1 remains downloadable with its original hash and bytes. Another project’s history never leaks into this view.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DES-10/12/13 · cross-design history regression</a:t>
            </a:r>
            <a:endParaRPr lang="en-US" sz="59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Shape 6"/>
          <p:cNvSpPr/>
          <p:nvPr/>
        </p:nvSpPr>
        <p:spPr>
          <a:xfrm>
            <a:off x="5787238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26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DESIGN → VERIFY HANDOFF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 the exact historical revision you selected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handoff carries project, revision, filename, file size, and file hash. Current does not silently replace historical.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While R1 is selected, choose Verify revision 1.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for the Verify result.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page states revision 1 while current is 2.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measured geometry returns to 120 × 70 × 8 mm.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Verify the exact historical revision you selected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consumes R1 bytes—not R2—and reports the R1 64.69 cm³ geometry after refresh, back/forward, and restart.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DES-11 · VER-09 identity continuity</a:t>
            </a:r>
            <a:endParaRPr lang="en-US" sz="59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Shape 6"/>
          <p:cNvSpPr/>
          <p:nvPr/>
        </p:nvSpPr>
        <p:spPr>
          <a:xfrm>
            <a:off x="5787238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27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ARCHIVE AND RESTORE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Archive removes a project from active work without destroying its revisions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archive for lifecycle state, not deletion. Every deterministic STEP revision and hash must remain recoverable.</a:t>
            </a:r>
            <a:endParaRPr lang="en-US" sz="120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222553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Design Studio  ↗</a:t>
            </a:r>
            <a:endParaRPr lang="en-US" sz="630" dirty="0"/>
          </a:p>
        </p:txBody>
      </p:sp>
      <p:sp>
        <p:nvSpPr>
          <p:cNvPr id="26" name="Shape 23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the project list, archive the completed test project and confirm the warning.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to Archived and locate it by exact project identity.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Restore it once; refresh and confirm it returns to Active.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R1 and R2, then re-download both to confirm the archive cycle did not alter bytes or hashes.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→ Archived → Active survives refresh with one project identity. Revision count, current revision, dimensions, STEP sizes, and hashes remain exact; repeated rapid actions create no duplicate project.</a:t>
            </a:r>
            <a:endParaRPr lang="en-US" sz="1020" dirty="0"/>
          </a:p>
        </p:txBody>
      </p:sp>
      <p:sp>
        <p:nvSpPr>
          <p:cNvPr id="41" name="Shape 38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DES-12/13 · WORK-11 archive/restore responsive-loop oracle</a:t>
            </a:r>
            <a:endParaRPr lang="en-US" sz="910" dirty="0"/>
          </a:p>
        </p:txBody>
      </p:sp>
      <p:sp>
        <p:nvSpPr>
          <p:cNvPr id="44" name="Text 41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DES-12/13 · WORK-11 archive/restore responsive-loop oracle</a:t>
            </a:r>
            <a:endParaRPr lang="en-US" sz="59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Shape 6"/>
          <p:cNvSpPr/>
          <p:nvPr/>
        </p:nvSpPr>
        <p:spPr>
          <a:xfrm>
            <a:off x="5787238" y="438912"/>
            <a:ext cx="431597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0" name="Text 7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28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TWO ADDITIONAL SAFE TEMPLATES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Bracket and enclosure stay prismatic through Verify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Recognizable shape is not enough; routing must also reject rotational false positives.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the default 80 × 50 × 60 mm L bracket at 6 mm thickness.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it; CNC Turning must fail as a route.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the default 80 × 50 × 60 mm enclosure with 3 mm walls and floor.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it; identify thin-wall enclosure and reject turning.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Bracket and enclosure stay prismatic through Verify platform evidence 1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26780" y="1143000"/>
            <a:ext cx="2112264" cy="1408176"/>
          </a:xfrm>
          <a:prstGeom prst="rect">
            <a:avLst/>
          </a:prstGeom>
        </p:spPr>
      </p:pic>
      <p:pic>
        <p:nvPicPr>
          <p:cNvPr id="39" name="Image 1" descr="Bracket and enclosure stay prismatic through Verify platform evidence 2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26780" y="2688336"/>
            <a:ext cx="2112264" cy="1408176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2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Bracket volume is 40.20 cm³; enclosure volume is 54.41 cm³. Both complete DFM and cost without rotational routing.</a:t>
            </a:r>
            <a:endParaRPr lang="en-US" sz="1020" dirty="0"/>
          </a:p>
        </p:txBody>
      </p:sp>
      <p:sp>
        <p:nvSpPr>
          <p:cNvPr id="43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DES-06–09 · geometry and route oracles</a:t>
            </a:r>
            <a:endParaRPr lang="en-US" sz="59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Shape 7"/>
          <p:cNvSpPr/>
          <p:nvPr/>
        </p:nvSpPr>
        <p:spPr>
          <a:xfrm>
            <a:off x="6355994" y="438912"/>
            <a:ext cx="347472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29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DIRECT COST WORKFLOW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direct Should-cost when you need economics without the full Verify workspace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direct form uses the same real CAD parser and cost engine. Process, quantity, material, region, and shop context must be explicit enough to reproduce the result.</a:t>
            </a:r>
            <a:endParaRPr lang="en-US" sz="120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17043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Should-cost  ↗</a:t>
            </a:r>
            <a:endParaRPr lang="en-US" sz="630" dirty="0"/>
          </a:p>
        </p:txBody>
      </p:sp>
      <p:sp>
        <p:nvSpPr>
          <p:cNvPr id="26" name="Text 23"/>
          <p:cNvSpPr/>
          <p:nvPr/>
        </p:nvSpPr>
        <p:spPr>
          <a:xfrm>
            <a:off x="1737360" y="2834640"/>
            <a:ext cx="145938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golden cube.step  ↓</a:t>
            </a:r>
            <a:endParaRPr lang="en-US" sz="630" dirty="0"/>
          </a:p>
        </p:txBody>
      </p:sp>
      <p:sp>
        <p:nvSpPr>
          <p:cNvPr id="27" name="Shape 24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Should-cost and upload the golden STEP.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quantities to 1, 10, 100, and 1000; select the intended material/region and leave no accidental hidden defaults.</a:t>
            </a:r>
            <a:endParaRPr lang="en-US" sz="930" dirty="0"/>
          </a:p>
        </p:txBody>
      </p:sp>
      <p:sp>
        <p:nvSpPr>
          <p:cNvPr id="33" name="Shape 30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estimate, then change the process using the visible process selector and run again.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 every unit cost to its line-item sum, confidence bounds, provenance, and saved decision ID.</a:t>
            </a:r>
            <a:endParaRPr lang="en-US" sz="930" dirty="0"/>
          </a:p>
        </p:txBody>
      </p:sp>
      <p:sp>
        <p:nvSpPr>
          <p:cNvPr id="39" name="Shape 36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real runs complete without timeout; the selected process changes the active result; each quantity has finite unit/fixed/variable cost, line items differ by less than $0.02 from unit cost, and the saved record reopens exactly.</a:t>
            </a:r>
            <a:endParaRPr lang="en-US" sz="1020" dirty="0"/>
          </a:p>
        </p:txBody>
      </p:sp>
      <p:sp>
        <p:nvSpPr>
          <p:cNvPr id="42" name="Shape 39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WORK-01 · human process-selector and numerical reconciliation oracle</a:t>
            </a:r>
            <a:endParaRPr lang="en-US" sz="910" dirty="0"/>
          </a:p>
        </p:txBody>
      </p:sp>
      <p:sp>
        <p:nvSpPr>
          <p:cNvPr id="45" name="Text 42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WORK-01 · human process-selector and numerical reconciliation oracle</a:t>
            </a:r>
            <a:endParaRPr lang="en-US" sz="59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Shape 7"/>
          <p:cNvSpPr/>
          <p:nvPr/>
        </p:nvSpPr>
        <p:spPr>
          <a:xfrm>
            <a:off x="6355994" y="438912"/>
            <a:ext cx="347472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30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CASE · COST ENGINEER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Should-cost is a saved evidence object—not a disposable estimate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completed Verify or direct Should-cost run creates the durable decision used by history, comparison, governance, and RFQ packages.</a:t>
            </a:r>
            <a:endParaRPr lang="en-US" sz="120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18872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Cost history  ↗</a:t>
            </a:r>
            <a:endParaRPr lang="en-US" sz="630" dirty="0"/>
          </a:p>
        </p:txBody>
      </p:sp>
      <p:sp>
        <p:nvSpPr>
          <p:cNvPr id="26" name="Shape 23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Cost decisions after a successful verification or direct cost run.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newest row for the uploaded filename and confirm its record ID.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make-now process, quantity ladder, confidence, and driver provenance.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and reopen the same decision by identity.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record re-renders the same geometry, quantities, process, estimates, drivers, confidence, and decision JSON after reopen and refresh; the exact estimate count is read from that record, never assumed from this guide.</a:t>
            </a:r>
            <a:endParaRPr lang="en-US" sz="1020" dirty="0"/>
          </a:p>
        </p:txBody>
      </p:sp>
      <p:sp>
        <p:nvSpPr>
          <p:cNvPr id="41" name="Shape 38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WORK-03/04 · training-guide durable-cost oracle</a:t>
            </a:r>
            <a:endParaRPr lang="en-US" sz="910" dirty="0"/>
          </a:p>
        </p:txBody>
      </p:sp>
      <p:sp>
        <p:nvSpPr>
          <p:cNvPr id="44" name="Text 41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WORK-03/04 · training-guide durable-cost oracle</a:t>
            </a:r>
            <a:endParaRPr lang="en-US" sz="59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Shape 7"/>
          <p:cNvSpPr/>
          <p:nvPr/>
        </p:nvSpPr>
        <p:spPr>
          <a:xfrm>
            <a:off x="6355994" y="438912"/>
            <a:ext cx="347472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31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APPROVE, NOTE, AND REOPEN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Approval changes governance state—not the calculation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is a sign-off layer around an immutable cost decision.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 saved cost decision.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decision note, select Approve, and confirm the approved state.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Refresh, then select Reopen when another review is required.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status returns to Unreviewed.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Approval changes governance state—not the calculation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Unreviewed → Approved → Unreviewed. Exact note, cost, geometry, drivers, and decision JSON remain unchanged.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WORK-05 · governance branch oracle</a:t>
            </a:r>
            <a:endParaRPr lang="en-US" sz="59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Shape 7"/>
          <p:cNvSpPr/>
          <p:nvPr/>
        </p:nvSpPr>
        <p:spPr>
          <a:xfrm>
            <a:off x="6355994" y="438912"/>
            <a:ext cx="347472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32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RE-COST TRIGGER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new governed rate makes the old decision visibly stale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Stale is protective: it stops a prior approval from looking current after its rate basis changes.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a new governed rate-card version as an administrator.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to the previously saved decision.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stale warning and reason.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Re-run cost before relying on or packaging the decision.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A new governed rate makes the old decision visibly stale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decision shows Stale and “Re-cost before relying on this record,” with reason rate_library_published.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WORK-05 · governed-rate transition oracle</a:t>
            </a:r>
            <a:endParaRPr lang="en-US" sz="59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Shape 7"/>
          <p:cNvSpPr/>
          <p:nvPr/>
        </p:nvSpPr>
        <p:spPr>
          <a:xfrm>
            <a:off x="6355994" y="438912"/>
            <a:ext cx="347472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33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COST COMPARISON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A/B only after both decisions are durable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is a read of two saved records, not a recalculation that can quietly drift.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Compare A/B.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two durable decisions by filename and identity.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each quantity row, delta, process, approval, and stale flag.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and confirm the exact comparison reopens.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displayed value matches the compare API and source records; order, quantities, approval, stale state, and numerical deltas remain exact after reload.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WORK-06 · 199-assertion compare/RFQ/key matrix</a:t>
            </a:r>
            <a:endParaRPr lang="en-US" sz="910" dirty="0"/>
          </a:p>
        </p:txBody>
      </p:sp>
      <p:sp>
        <p:nvSpPr>
          <p:cNvPr id="43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WORK-06 · 199-assertion compare/RFQ/key matrix</a:t>
            </a:r>
            <a:endParaRPr lang="en-US" sz="59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Shape 7"/>
          <p:cNvSpPr/>
          <p:nvPr/>
        </p:nvSpPr>
        <p:spPr>
          <a:xfrm>
            <a:off x="6355994" y="438912"/>
            <a:ext cx="347472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34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AND HANDOFF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Treat exports as reconciled evidence, not convenient attachments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is useful only when its content can be reconstructed back to the durable record that produced it.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only after the decision reaches the intended governance state.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exported CSV, JSON, PDF, STEP, or ZIP.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 filename, identity, hash, quantity, cost, warnings, and approval.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raw CAD inclusion explicit when sharing an RFQ package.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downloads are non-empty, named correctly, parse successfully, and reproduce the source decision or design without hidden fallback content.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DES-05/10/11 · WORK-06/08 · training-guide RFQ oracle</a:t>
            </a:r>
            <a:endParaRPr lang="en-US" sz="910" dirty="0"/>
          </a:p>
        </p:txBody>
      </p:sp>
      <p:sp>
        <p:nvSpPr>
          <p:cNvPr id="43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DES-05/10/11 · WORK-06/08 · training-guide RFQ oracle</a:t>
            </a:r>
            <a:endParaRPr lang="en-US" sz="59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Shape 7"/>
          <p:cNvSpPr/>
          <p:nvPr/>
        </p:nvSpPr>
        <p:spPr>
          <a:xfrm>
            <a:off x="6355994" y="438912"/>
            <a:ext cx="347472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1" name="Text 8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35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CONTROLLED EXTERNAL REVIEW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public share is read-only, minimal, and revocable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only the reviewed should-cost view. The public payload must not disclose private organization, user, API-key, internal decision, or mesh-hash identifiers.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 reviewed cost decision and select Share; copy the generated public URL.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it in a private browser with no ProofShape session and confirm Shared should-cost · read-only.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visible filename, governed result, and warnings; confirm there are no mutation controls or private identifiers.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as owner, revoke the share, then refresh both the public page and its API payload.</a:t>
            </a:r>
            <a:endParaRPr lang="en-US" sz="930" dirty="0"/>
          </a:p>
        </p:txBody>
      </p:sp>
      <p:sp>
        <p:nvSpPr>
          <p:cNvPr id="37" name="Shape 34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revocation, the public view is readable and mutation-free with a minimized payload. After revocation, both page and API return unavailable/404 while the owner record persists with sharing disabled.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WORK-07 · unauthenticated payload privacy + owner revoke lifecycle</a:t>
            </a:r>
            <a:endParaRPr lang="en-US" sz="910" dirty="0"/>
          </a:p>
        </p:txBody>
      </p:sp>
      <p:sp>
        <p:nvSpPr>
          <p:cNvPr id="43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WORK-07 · unauthenticated payload privacy + owner revoke lifecycle</a:t>
            </a:r>
            <a:endParaRPr lang="en-US" sz="59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Shape 8"/>
          <p:cNvSpPr/>
          <p:nvPr/>
        </p:nvSpPr>
        <p:spPr>
          <a:xfrm>
            <a:off x="6840626" y="438912"/>
            <a:ext cx="347472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36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CASE · MANUFACTURING LEAD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Declare the machines and rates the organization actually owns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authoring, zero-value handling, CSV mixed rows, retry, reload, and governed-rate display are exercised through the browser.</a:t>
            </a:r>
            <a:endParaRPr lang="en-US" sz="120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222553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Your machines  ↗</a:t>
            </a:r>
            <a:endParaRPr lang="en-US" sz="630" dirty="0"/>
          </a:p>
        </p:txBody>
      </p:sp>
      <p:sp>
        <p:nvSpPr>
          <p:cNvPr id="26" name="Text 23"/>
          <p:cNvSpPr/>
          <p:nvPr/>
        </p:nvSpPr>
        <p:spPr>
          <a:xfrm>
            <a:off x="1789481" y="2834640"/>
            <a:ext cx="1730045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mixed machine import CSV  ↓</a:t>
            </a:r>
            <a:endParaRPr lang="en-US" sz="630" dirty="0"/>
          </a:p>
        </p:txBody>
      </p:sp>
      <p:sp>
        <p:nvSpPr>
          <p:cNvPr id="27" name="Shape 24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Your machines and select Add machine.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practice row enter name QA CNC Mill, process cnc_3axis, $95/hour, 200 kg maximum workpiece, envelope x/y/z 500 × 400 × 300 mm, aluminum; count 1.</a:t>
            </a:r>
            <a:endParaRPr lang="en-US" sz="930" dirty="0"/>
          </a:p>
        </p:txBody>
      </p:sp>
      <p:sp>
        <p:nvSpPr>
          <p:cNvPr id="33" name="Shape 30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the provided mixed CSV; line 2 is valid and line 3 intentionally has count=not-a-number. Inspect the exact imported/skipped totals and line-3 reason.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Reload and confirm the valid inventory and provenance; retry the same CSV to prove it does not remove existing machines.</a:t>
            </a:r>
            <a:endParaRPr lang="en-US" sz="930" dirty="0"/>
          </a:p>
        </p:txBody>
      </p:sp>
      <p:sp>
        <p:nvSpPr>
          <p:cNvPr id="39" name="Shape 36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40" name="Image 0" descr="Declare the machines and rates the organization actually owns platform evidenc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3" name="Text 39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Exactly one valid cnc_3axis row imports and the intentional line 3 is skipped with count-not-an-integer copy. The authored machine persists; valid zero values remain zero; retry never removes existing machines.</a:t>
            </a:r>
            <a:endParaRPr lang="en-US" sz="1020" dirty="0"/>
          </a:p>
        </p:txBody>
      </p:sp>
      <p:sp>
        <p:nvSpPr>
          <p:cNvPr id="44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MFG-01–06 · ENT-01 manufacturing/CAD matrix · embedded fixture SHA dc96692c…5306</a:t>
            </a:r>
            <a:endParaRPr lang="en-US" sz="59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Shape 8"/>
          <p:cNvSpPr/>
          <p:nvPr/>
        </p:nvSpPr>
        <p:spPr>
          <a:xfrm>
            <a:off x="6840626" y="438912"/>
            <a:ext cx="347472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37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GROUND TRUTH FLOOR AND SUCCESSFUL SOURCE BINDING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data must never masquerade as measured accuracy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downloadable rows are intentionally tagged demo/stand-in. They prove import and refusal safely; real calibration succeeds only with customer actuals bound to source hashes already accepted by Verify or Should-cost.</a:t>
            </a:r>
            <a:endParaRPr lang="en-US" sz="108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42555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Calibration &amp; truth  ↗</a:t>
            </a:r>
            <a:endParaRPr lang="en-US" sz="630" dirty="0"/>
          </a:p>
        </p:txBody>
      </p:sp>
      <p:sp>
        <p:nvSpPr>
          <p:cNvPr id="26" name="Text 23"/>
          <p:cNvSpPr/>
          <p:nvPr/>
        </p:nvSpPr>
        <p:spPr>
          <a:xfrm>
            <a:off x="1992478" y="2834640"/>
            <a:ext cx="1662379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safe mixed actuals CSV  ↓</a:t>
            </a:r>
            <a:endParaRPr lang="en-US" sz="630" dirty="0"/>
          </a:p>
        </p:txBody>
      </p:sp>
      <p:sp>
        <p:nvSpPr>
          <p:cNvPr id="27" name="Shape 24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Successfully upload the unmodified cube.step first so its source SHA exists in the organization evidence store.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the provided CSV: exactly 8 rows import as stand-ins and line 10 is rejected with all stated field errors.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Recalibrate and confirm the safe practice result is refused as 0 real of 8 needed; refresh and confirm the state persists.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real measured run, use at least eight genuine invoice/quote rows, source_type actual/quote/invoice, and each exact prior source SHA; then review held-out count, skipped reasons, and measured metrics before accepting the band.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40" name="Image 0" descr="Practice data must never masquerade as measured accuracy platform evidenc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3" name="Text 39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practice file can never flip a band solid. In the isolated release test, eight test-tenant actual records bound to a durably captured STEP source complete with zero skipped records and measured held-out metrics; customer accuracy is never inferred from those test facts.</a:t>
            </a:r>
            <a:endParaRPr lang="en-US" sz="920" dirty="0"/>
          </a:p>
        </p:txBody>
      </p:sp>
      <p:sp>
        <p:nvSpPr>
          <p:cNvPr id="44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ENT-02 · source-artifact/calibration success contract · safe fixture SHA 16cd702c…62a</a:t>
            </a:r>
            <a:endParaRPr lang="en-US" sz="59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Shape 8"/>
          <p:cNvSpPr/>
          <p:nvPr/>
        </p:nvSpPr>
        <p:spPr>
          <a:xfrm>
            <a:off x="6840626" y="438912"/>
            <a:ext cx="347472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120 °C · SOUR SERVICE · 35 MPA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Severe service rejects unsafe materials before recovering a route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service constraints must change feasibility—not merely decorate the record.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Verify select Polymer, 120 °C service, sour service, and 35 MPa pressure; upload the golden STEP.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every returned environment exclusion and confirm each visible reason cites NACE, HDT, ASME, ASTM, or ISO evidence.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surviving PEEK capability is explicit as makeable_not_on_owned on the declared inventory.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Stainless without re-uploading; wait for a fresh result and confirm makeable_in_house.</a:t>
            </a:r>
            <a:endParaRPr lang="en-US" sz="930" dirty="0"/>
          </a:p>
        </p:txBody>
      </p:sp>
      <p:sp>
        <p:nvSpPr>
          <p:cNvPr id="37" name="Shape 34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or more unsafe polymer routes are excluded with standards-cited reasons visible in the UI; PEEK remains an explicit owned-capability gap; the declared stainless route recovers to makeable_in_house and the USER service context persists.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ENT-03 · exact context/verdict/citation browser oracle</a:t>
            </a:r>
            <a:endParaRPr lang="en-US" sz="910" dirty="0"/>
          </a:p>
        </p:txBody>
      </p:sp>
      <p:sp>
        <p:nvSpPr>
          <p:cNvPr id="43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ENT-03 · exact context/verdict/citation browser oracle</a:t>
            </a:r>
            <a:endParaRPr lang="en-US" sz="59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Shape 8"/>
          <p:cNvSpPr/>
          <p:nvPr/>
        </p:nvSpPr>
        <p:spPr>
          <a:xfrm>
            <a:off x="6840626" y="438912"/>
            <a:ext cx="347472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2" name="Text 9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PROGRAM AND ANNUAL ECONOMICS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exposure appears only after exact-volume verification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ProofShape withholds annualized exposure until the engine has a recommendation at the declared quantity.</a:t>
            </a:r>
            <a:endParaRPr lang="en-US" sz="120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17043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Programs  ↗</a:t>
            </a:r>
            <a:endParaRPr lang="en-US" sz="630" dirty="0"/>
          </a:p>
        </p:txBody>
      </p:sp>
      <p:sp>
        <p:nvSpPr>
          <p:cNvPr id="26" name="Text 23"/>
          <p:cNvSpPr/>
          <p:nvPr/>
        </p:nvSpPr>
        <p:spPr>
          <a:xfrm>
            <a:off x="1737360" y="2834640"/>
            <a:ext cx="1594714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mixed parts manifest  ↓</a:t>
            </a:r>
            <a:endParaRPr lang="en-US" sz="630" dirty="0"/>
          </a:p>
        </p:txBody>
      </p:sp>
      <p:sp>
        <p:nvSpPr>
          <p:cNvPr id="27" name="Shape 24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the manifest and confirm exactly two valid rows plus the intentional line-4 rejection.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the verified part to a program and parent assembly; declare units per parent and annual volume.</a:t>
            </a:r>
            <a:endParaRPr lang="en-US" sz="930" dirty="0"/>
          </a:p>
        </p:txBody>
      </p:sp>
      <p:sp>
        <p:nvSpPr>
          <p:cNvPr id="33" name="Shape 30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Re-verify at the exact annual quantity.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Programs and confirm the part, missing-evidence state, and exposure roll up without inventing economics for the rejected row.</a:t>
            </a:r>
            <a:endParaRPr lang="en-US" sz="930" dirty="0"/>
          </a:p>
        </p:txBody>
      </p:sp>
      <p:sp>
        <p:nvSpPr>
          <p:cNvPr id="39" name="Shape 36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40" name="Image 0" descr="Program exposure appears only after exact-volume verification platform evidenc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3" name="Text 39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pinned program oracle: 12,000 units × $10.08 = $120,960/year. The single-part $133.58 headline and any row without exact-volume evidence are explicitly rejected as annual bases.</a:t>
            </a:r>
            <a:endParaRPr lang="en-US" sz="1020" dirty="0"/>
          </a:p>
        </p:txBody>
      </p:sp>
      <p:sp>
        <p:nvSpPr>
          <p:cNvPr id="44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ENT-04 · exact-economics oracle · manifest SHA 567fc0c2…1268</a:t>
            </a:r>
            <a:endParaRPr lang="en-US" sz="59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Text 8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2" name="Shape 9"/>
          <p:cNvSpPr/>
          <p:nvPr/>
        </p:nvSpPr>
        <p:spPr>
          <a:xfrm>
            <a:off x="7325258" y="438912"/>
            <a:ext cx="38862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CASE · MANY PARTS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ZIP batch must finish before its CSV becomes evidence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creation, worker progress, mounted-row refresh, result identity, CSV, and archive recovery are exercised as a user sees them.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ZIP containing supported CAD files; exclude quote CSVs.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Batch run, select the ZIP, and choose Start batch.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for both summary and mounted item row to say Completed.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CSV and reconcile one row per item.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A ZIP batch must finish before its CSV becomes evidence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one-part ZIP reaches Completed 1/1 without reload; CSV headers, filename, status, verdict, process, duration, analysis URL, and error field reconcile.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WORK-02/11 · batch/recovery golden matrix</a:t>
            </a:r>
            <a:endParaRPr lang="en-US" sz="59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Text 8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2" name="Shape 9"/>
          <p:cNvSpPr/>
          <p:nvPr/>
        </p:nvSpPr>
        <p:spPr>
          <a:xfrm>
            <a:off x="7325258" y="438912"/>
            <a:ext cx="38862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41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QUEUE AND REFRESH RECOVERY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worker or status fault must not strand or duplicate the batch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browser is forced through create races, stale status, reload, injected 500, retry, and persisted-identity recovery.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batch page open when status becomes unavailable.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actionable worker/status message; do not resubmit blindly.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or choose the stated retry action once.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original batch ID completes and CSV remains singular.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A worker or status fault must not strand or duplicate the batch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durable batch reaches Completed 1/1 after recovery; no duplicate analysis, stranded item, false success, or lost mounted-row state remains.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FAIL-04/05/10 · batch race and rollback regressions</a:t>
            </a:r>
            <a:endParaRPr lang="en-US" sz="59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Text 8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2" name="Shape 9"/>
          <p:cNvSpPr/>
          <p:nvPr/>
        </p:nvSpPr>
        <p:spPr>
          <a:xfrm>
            <a:off x="7325258" y="438912"/>
            <a:ext cx="38862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42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CANCELLATION AND WORKER LEASE RECOVERY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Cancel the original batch; do not create a second one to escape it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Cancellation must settle every child item and survive a worker being interrupted after it durably claimed work.</a:t>
            </a:r>
            <a:endParaRPr lang="en-US" sz="120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17043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Batch  ↗</a:t>
            </a:r>
            <a:endParaRPr lang="en-US" sz="630" dirty="0"/>
          </a:p>
        </p:txBody>
      </p:sp>
      <p:sp>
        <p:nvSpPr>
          <p:cNvPr id="26" name="Text 23"/>
          <p:cNvSpPr/>
          <p:nvPr/>
        </p:nvSpPr>
        <p:spPr>
          <a:xfrm>
            <a:off x="1737360" y="2834640"/>
            <a:ext cx="152704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one-part batch ZIP  ↓</a:t>
            </a:r>
            <a:endParaRPr lang="en-US" sz="630" dirty="0"/>
          </a:p>
        </p:txBody>
      </p:sp>
      <p:sp>
        <p:nvSpPr>
          <p:cNvPr id="27" name="Shape 24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the provided batch ZIP in the test tenant and note the durable batch ID.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While work is pending or processing, select Cancel and confirm the destructive action once.</a:t>
            </a:r>
            <a:endParaRPr lang="en-US" sz="930" dirty="0"/>
          </a:p>
        </p:txBody>
      </p:sp>
      <p:sp>
        <p:nvSpPr>
          <p:cNvPr id="33" name="Shape 30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the same batch ID and inspect every item state.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recovery test, interrupt a claimed worker; confirm the item is released or reclaimed, then allow the original batch to finish on retry.</a:t>
            </a:r>
            <a:endParaRPr lang="en-US" sz="930" dirty="0"/>
          </a:p>
        </p:txBody>
      </p:sp>
      <p:sp>
        <p:nvSpPr>
          <p:cNvPr id="39" name="Shape 36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cancelled parent has no pending/queued/processing children and never later becomes Completed. A worker cancellation releases the processing lease; stale-lease fallback requeues only after the hard timeout safety margin and links the exact persisted analysis variant.</a:t>
            </a:r>
            <a:endParaRPr lang="en-US" sz="920" dirty="0"/>
          </a:p>
        </p:txBody>
      </p:sp>
      <p:sp>
        <p:nvSpPr>
          <p:cNvPr id="42" name="Shape 39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WORK-11 · cancellation BaseException regression · 660-second stale lease recovery</a:t>
            </a:r>
            <a:endParaRPr lang="en-US" sz="910" dirty="0"/>
          </a:p>
        </p:txBody>
      </p:sp>
      <p:sp>
        <p:nvSpPr>
          <p:cNvPr id="45" name="Text 42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WORK-11 · cancellation BaseException regression · 660-second stale lease recovery</a:t>
            </a:r>
            <a:endParaRPr lang="en-US" sz="59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Text 8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2" name="Shape 9"/>
          <p:cNvSpPr/>
          <p:nvPr/>
        </p:nvSpPr>
        <p:spPr>
          <a:xfrm>
            <a:off x="7325258" y="438912"/>
            <a:ext cx="38862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3" name="Text 10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43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CASE · SOURCING LEAD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an RFQ bundle from saved decisions—without contacting a supplier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ProofShape generates a durable evidence bundle. Supplier transmission remains a separate controlled action.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RFQ packages after saving cost decisions.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title, supplier, and optional buyer note.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decisions; read stale, unapproved, and raw-CAD warnings.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Generate, reopen, then Download ZIP.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Build an RFQ bundle from saved decisions—without contacting a supplier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pinned cube, manifest, line item, supplier brief, exact decision JSON, 48 estimate/driver rows, required part context, warnings, raw-CAD boundary, and a real parsed PDF reconcile with the immutable package snapshot. PDF-unavailable is a release failure for this golden path.</a:t>
            </a:r>
            <a:endParaRPr lang="en-US" sz="9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WORK-08 · training-guide RFQ semantic PDF/ZIP oracle</a:t>
            </a:r>
            <a:endParaRPr lang="en-US" sz="59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Text 8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2" name="Text 9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3" name="Shape 10"/>
          <p:cNvSpPr/>
          <p:nvPr/>
        </p:nvSpPr>
        <p:spPr>
          <a:xfrm>
            <a:off x="7851038" y="438912"/>
            <a:ext cx="38862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44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AA721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PARTIAL · EXTERNAL GATE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INTEGRATION BOUNDARY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Connector simulation proves the contract—not a live vendor relationship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SAP and Windchill fixtures, CSV normalization, credential lifecycle, import, idempotent retry, and secret redaction pass. Vendor acceptance requires a real sandbox.</a:t>
            </a:r>
            <a:endParaRPr lang="en-US" sz="1200" dirty="0"/>
          </a:p>
        </p:txBody>
      </p:sp>
      <p:sp>
        <p:nvSpPr>
          <p:cNvPr id="25" name="Text 22">
            <a:hlinkClick r:id="rId15" tooltip=""/>
          </p:cNvPr>
          <p:cNvSpPr/>
          <p:nvPr/>
        </p:nvSpPr>
        <p:spPr>
          <a:xfrm>
            <a:off x="475488" y="2834640"/>
            <a:ext cx="118872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Integrations  ↗</a:t>
            </a:r>
            <a:endParaRPr lang="en-US" sz="630" dirty="0"/>
          </a:p>
        </p:txBody>
      </p:sp>
      <p:sp>
        <p:nvSpPr>
          <p:cNvPr id="26" name="Text 23"/>
          <p:cNvSpPr/>
          <p:nvPr/>
        </p:nvSpPr>
        <p:spPr>
          <a:xfrm>
            <a:off x="1755648" y="2834640"/>
            <a:ext cx="152704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SAP sandbox replay  ↓</a:t>
            </a:r>
            <a:endParaRPr lang="en-US" sz="630" dirty="0"/>
          </a:p>
        </p:txBody>
      </p:sp>
      <p:sp>
        <p:nvSpPr>
          <p:cNvPr id="27" name="Text 24"/>
          <p:cNvSpPr/>
          <p:nvPr/>
        </p:nvSpPr>
        <p:spPr>
          <a:xfrm>
            <a:off x="3374136" y="2834640"/>
            <a:ext cx="1730045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Windchill sandbox replay  ↓</a:t>
            </a:r>
            <a:endParaRPr lang="en-US" sz="630" dirty="0"/>
          </a:p>
        </p:txBody>
      </p:sp>
      <p:sp>
        <p:nvSpPr>
          <p:cNvPr id="28" name="Text 25"/>
          <p:cNvSpPr/>
          <p:nvPr/>
        </p:nvSpPr>
        <p:spPr>
          <a:xfrm>
            <a:off x="5195621" y="2834640"/>
            <a:ext cx="1560881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normalized manifest  ↓</a:t>
            </a:r>
            <a:endParaRPr lang="en-US" sz="630" dirty="0"/>
          </a:p>
        </p:txBody>
      </p:sp>
      <p:sp>
        <p:nvSpPr>
          <p:cNvPr id="29" name="Shape 26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Integrations and read the connector and read-only boundary.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offline replays to confirm SAP normalizes 2 products + 1 BOM edge and Windchill normalizes 2 parts + 1 usage edge, each with zero warnings.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profile only for an approved real sandbox endpoint; dry-run, import, and retry while comparing normalized rows.</a:t>
            </a:r>
            <a:endParaRPr lang="en-US" sz="930" dirty="0"/>
          </a:p>
        </p:txBody>
      </p:sp>
      <p:sp>
        <p:nvSpPr>
          <p:cNvPr id="38" name="Shape 35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Revoke the profile and confirm no secret appears in responses.</a:t>
            </a:r>
            <a:endParaRPr lang="en-US" sz="930" dirty="0"/>
          </a:p>
        </p:txBody>
      </p:sp>
      <p:sp>
        <p:nvSpPr>
          <p:cNvPr id="41" name="Shape 38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42" name="Image 0" descr="Connector simulation proves the contract—not a live vendor relationship platform evidenc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AA721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VALIDATED SCOPE / REMAINING GATE</a:t>
            </a:r>
            <a:endParaRPr lang="en-US" sz="680" dirty="0"/>
          </a:p>
        </p:txBody>
      </p:sp>
      <p:sp>
        <p:nvSpPr>
          <p:cNvPr id="45" name="Text 41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fixture rows remain exact and retry creates no duplicates. PARTIAL means no claim that SAP or Windchill accepted a live connection until their real sandboxes are configured and accepted.</a:t>
            </a:r>
            <a:endParaRPr lang="en-US" sz="1020" dirty="0"/>
          </a:p>
        </p:txBody>
      </p:sp>
      <p:sp>
        <p:nvSpPr>
          <p:cNvPr id="46" name="Text 42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WORK-09/10 · SAP SHA 31aa45fe…664f · Windchill SHA 5ff55031…307 · live vendor gate external</a:t>
            </a:r>
            <a:endParaRPr lang="en-US" sz="59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Text 8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2" name="Text 9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3" name="Shape 10"/>
          <p:cNvSpPr/>
          <p:nvPr/>
        </p:nvSpPr>
        <p:spPr>
          <a:xfrm>
            <a:off x="7851038" y="438912"/>
            <a:ext cx="38862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45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CASE · DEVELOPER/ADMIN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an API key once, then treat the secret as gone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settings reveals the full key exactly once; later screens retain only its prefix and current status.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API &amp; docs / Developer settings.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key and use it once against the API.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Reload, rotate, and confirm the old key is rejected.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Revoke the replacement and confirm it is rejected and visibly Revoked.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Create an API key once, then treat the secret as gone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Create/use/reload/rotate/reject-old/use-new/revoke/reject-new all pass; durable status and audit state survive reload while the dashboard session remains separate.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WORK-12 · compare/RFQ/key browser matrix</a:t>
            </a:r>
            <a:endParaRPr lang="en-US" sz="59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Text 8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2" name="Text 9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3" name="Shape 10"/>
          <p:cNvSpPr/>
          <p:nvPr/>
        </p:nvSpPr>
        <p:spPr>
          <a:xfrm>
            <a:off x="7851038" y="438912"/>
            <a:ext cx="38862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46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ADMINISTRATIVE ONBOARDING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Configure organization and security surfaces before inviting work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 identity, member roles, password/session controls, and provider-specific SSO/SCIM boundaries are explicit.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Organization and confirm the tenant identity.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 only the intended person and assign the least-privileged role.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Security and review password, session, SSO, and SCIM state.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test users before changing production access.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Configure organization and security surfaces before inviting work platform evidence 1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26780" y="1143000"/>
            <a:ext cx="2112264" cy="1408176"/>
          </a:xfrm>
          <a:prstGeom prst="rect">
            <a:avLst/>
          </a:prstGeom>
        </p:spPr>
      </p:pic>
      <p:pic>
        <p:nvPicPr>
          <p:cNvPr id="39" name="Image 1" descr="Configure organization and security surfaces before inviting work platform evidence 2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26780" y="2688336"/>
            <a:ext cx="2112264" cy="1408176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2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organization and security pages show real configured state, not seeded facts. Local SAML/SCIM lifecycle contracts pass; a live IdP remains an external staging acceptance gate.</a:t>
            </a:r>
            <a:endParaRPr lang="en-US" sz="1020" dirty="0"/>
          </a:p>
        </p:txBody>
      </p:sp>
      <p:sp>
        <p:nvSpPr>
          <p:cNvPr id="43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AUTH-03 · SCIM/IdP lifecycle supplemental gate</a:t>
            </a:r>
            <a:endParaRPr lang="en-US" sz="59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Text 8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2" name="Text 9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3" name="Shape 10"/>
          <p:cNvSpPr/>
          <p:nvPr/>
        </p:nvSpPr>
        <p:spPr>
          <a:xfrm>
            <a:off x="7851038" y="438912"/>
            <a:ext cx="38862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47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ROLE AND TENANT ISOLATION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viewer can read allowed evidence but cannot administer the organization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full browser matrix substitutes IDs, downloads, cache/worker paths, and credentials across two organizations and role levels.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in as viewer and open permitted evidence.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Attempt an administrator operation in the test tenant.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Substitute another organization’s record and download IDs.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after refresh and worker-backed operations.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A viewer can read allowed evidence but cannot administer the organization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 administration returns 403; cross-tenant records never render or download; API keys, cache values, worker writes, notifications, and recovery remain bound to the issuing organization.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ROLE-01–04 · two-tenant browser boundary matrix</a:t>
            </a:r>
            <a:endParaRPr lang="en-US" sz="59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Text 8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2" name="Text 9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3" name="Shape 10"/>
          <p:cNvSpPr/>
          <p:nvPr/>
        </p:nvSpPr>
        <p:spPr>
          <a:xfrm>
            <a:off x="7851038" y="438912"/>
            <a:ext cx="38862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4" name="Text 11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48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AA721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PARTIAL · EXTERNAL GATE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HONEST CAPABILITY BOUNDARY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Reconstruction is available only with an approved geometry backend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local production candidate intentionally has no model endpoint or remote egress for reconstruction. It must not fake a mesh.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reconstruction only when the organization has an approved backend configured.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service is unavailable, read the stated upload recovery.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the source CAD through Verify instead.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 provider configuration to an administrator.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AA721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VALIDATED SCOPE / REMAINING GATE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an approved backend, the endpoint returns an actionable 501 boundary and creates no fabricated mesh. A live reconstruction claim requires provider, accuracy, security, and customer-file acceptance.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ENT-05 actionable recovery · external provider/accuracy gate</a:t>
            </a:r>
            <a:endParaRPr lang="en-US" sz="910" dirty="0"/>
          </a:p>
        </p:txBody>
      </p:sp>
      <p:sp>
        <p:nvSpPr>
          <p:cNvPr id="43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ENT-05 actionable recovery · external provider/accuracy gate</a:t>
            </a:r>
            <a:endParaRPr lang="en-US" sz="59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Text 8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2" name="Text 9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3" name="Text 10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4" name="Shape 11"/>
          <p:cNvSpPr/>
          <p:nvPr/>
        </p:nvSpPr>
        <p:spPr>
          <a:xfrm>
            <a:off x="8376818" y="438912"/>
            <a:ext cx="51755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3A3D42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49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B8BDC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TEN REQUIRED RECOVERY CONTRACTS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Recover from the stated cause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BD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Authentication, validation, throttling, missing records, conflicts, worker/store faults, offline, and restart paths are exercised through the browser.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filename, route, timestamp, and record ID.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2D3138"/>
          </a:solidFill>
          <a:ln w="10160">
            <a:solidFill>
              <a:srgbClr val="5A5F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credentials, bytes, permissions, or service health.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2D3138"/>
          </a:solidFill>
          <a:ln w="10160">
            <a:solidFill>
              <a:srgbClr val="5A5F6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displayed retry or refresh action once.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2D3138"/>
          </a:solidFill>
          <a:ln w="10160">
            <a:solidFill>
              <a:srgbClr val="5A5F6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original object completes or remains safely unchanged.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0E0F11"/>
          </a:solidFill>
          <a:ln w="10160">
            <a:solidFill>
              <a:srgbClr val="34373D"/>
            </a:solidFill>
            <a:prstDash val="solid"/>
          </a:ln>
        </p:spPr>
      </p:sp>
      <p:pic>
        <p:nvPicPr>
          <p:cNvPr id="38" name="Image 0" descr="Recover from the stated cause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202329"/>
          </a:solidFill>
          <a:ln w="10160">
            <a:solidFill>
              <a:srgbClr val="42464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C9CDD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401, 403, 404, 409, 422, 429, and 500 states show bounded next actions; FAIL-01–10 recover without duplicate or corrupted evidence.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B8BDC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FAIL-01–10 · mobile/recovery and domain matrices</a:t>
            </a:r>
            <a:endParaRPr lang="en-US" sz="59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Text 8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2" name="Text 9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3" name="Text 10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4" name="Shape 11"/>
          <p:cNvSpPr/>
          <p:nvPr/>
        </p:nvSpPr>
        <p:spPr>
          <a:xfrm>
            <a:off x="8376818" y="438912"/>
            <a:ext cx="51755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50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390 × 844 HUMAN SIMULATION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 can complete bounded work—not merely display a shell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access, navigation, design, historical verify, batch, downloads, archive/restore, errors, Back/Forward, refresh, and restart are exercised with touch-sized controls.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Access: sign in, open the section selector, navigate to Verify, and sign out.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Engineering: open the exact historical design revision, verify it, and preserve project/revision/file identity.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Operations: open a batch, refresh progress, download CSV, cancel only the intended batch, and recover an injected status fault.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Governance: open a decision, download evidence, archive/restore where allowed, then use Back/Forward, refresh, and a new browser context.</a:t>
            </a:r>
            <a:endParaRPr lang="en-US" sz="930" dirty="0"/>
          </a:p>
        </p:txBody>
      </p:sp>
      <p:sp>
        <p:nvSpPr>
          <p:cNvPr id="37" name="Shape 34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38" name="Image 0" descr="Mobile can complete bounded work—not merely display a shell platform eviden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87849" y="1152144"/>
            <a:ext cx="1390126" cy="3008376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guide slide remains horizontally usable at 390 × 844; all controls are touch sized; tested bounded app workflows complete without duplicate mutations; persisted design, revision, batch, decision, and file identities remain exact across responsive and restart loops.</a:t>
            </a:r>
            <a:endParaRPr lang="en-US" sz="920" dirty="0"/>
          </a:p>
        </p:txBody>
      </p:sp>
      <p:sp>
        <p:nvSpPr>
          <p:cNvPr id="42" name="Text 38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Deck all-slide mobile sweep + VER-09 · WORK-11 · FAIL-03–10 app matrix</a:t>
            </a:r>
            <a:endParaRPr lang="en-US" sz="59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Text 8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2" name="Text 9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3" name="Text 10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4" name="Shape 11"/>
          <p:cNvSpPr/>
          <p:nvPr/>
        </p:nvSpPr>
        <p:spPr>
          <a:xfrm>
            <a:off x="8376818" y="438912"/>
            <a:ext cx="517550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5" name="Text 12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51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AA721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PARTIAL · EXTERNAL GATE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EXTERNAL PRODUCTION GATE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launch requires real providers and ownership—not placeholders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can be locally release-certified while public availability remains blocked by infrastructure, identity, vendor, domain, and legal facts outside the repository.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 and control the production domain and DNS.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 isolated staging/production apps, S3, Sentry, email/domain, Turnstile, and deployment environments.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live IdP and vendor-sandbox acceptance.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IP/name, terms, privacy, regulated-boundary, and incident-owner approvals.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AA721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VALIDATED SCOPE / REMAINING GATE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go-live occurs only after each provider health check, DNS/TLS check, backup/restore drill, alert route, owner, rollback, and legal approval is real. No simulated dependency can satisfy this slide.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launch runbook · user/provider/legal ownership required</a:t>
            </a:r>
            <a:endParaRPr lang="en-US" sz="910" dirty="0"/>
          </a:p>
        </p:txBody>
      </p:sp>
      <p:sp>
        <p:nvSpPr>
          <p:cNvPr id="43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External launch runbook · user/provider/legal ownership required</a:t>
            </a:r>
            <a:endParaRPr lang="en-US" sz="59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151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Text 8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2" name="Text 9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3" name="Text 10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4" name="Text 11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5" name="Shape 12"/>
          <p:cNvSpPr/>
          <p:nvPr/>
        </p:nvSpPr>
        <p:spPr>
          <a:xfrm>
            <a:off x="9031529" y="438912"/>
            <a:ext cx="474574" cy="0"/>
          </a:xfrm>
          <a:prstGeom prst="line">
            <a:avLst/>
          </a:prstGeom>
          <a:noFill/>
          <a:ln w="17780">
            <a:solidFill>
              <a:srgbClr val="15171A"/>
            </a:solidFill>
            <a:prstDash val="solid"/>
          </a:ln>
        </p:spPr>
      </p:sp>
      <p:sp>
        <p:nvSpPr>
          <p:cNvPr id="16" name="Text 13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D9DADD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/ 53</a:t>
            </a:r>
            <a:endParaRPr lang="en-US" sz="650" dirty="0"/>
          </a:p>
        </p:txBody>
      </p:sp>
      <p:sp>
        <p:nvSpPr>
          <p:cNvPr id="20" name="Text 17">
            <a:hlinkClick r:id="rId14" tooltip="" action="ppaction://hlinksldjump"/>
          </p:cNvPr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u="sng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2859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CONTRACT · BUILD EVIDENCE REQUIRED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ONE RECORD CHAIN, NO COMPOSITE CLAIMS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Exact golden path: new account → verified CAD → durable decision → RFQ ZIP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single-account, single-source chain exercised by the guide runner. Machine, program, compare, and provider journeys have their own validated slides and are not silently claimed as steps in this record.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475488" y="2834640"/>
            <a:ext cx="145938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Download golden cube.step  ↓</a:t>
            </a:r>
            <a:endParaRPr lang="en-US" sz="630" dirty="0"/>
          </a:p>
        </p:txBody>
      </p:sp>
      <p:sp>
        <p:nvSpPr>
          <p:cNvPr id="26" name="Text 23">
            <a:hlinkClick r:id="rId15" tooltip=""/>
          </p:cNvPr>
          <p:cNvSpPr/>
          <p:nvPr/>
        </p:nvSpPr>
        <p:spPr>
          <a:xfrm>
            <a:off x="2026310" y="2834640"/>
            <a:ext cx="117043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9CA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30" b="1" u="sng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Sign up  ↗</a:t>
            </a:r>
            <a:endParaRPr lang="en-US" sz="630" dirty="0"/>
          </a:p>
        </p:txBody>
      </p:sp>
      <p:sp>
        <p:nvSpPr>
          <p:cNvPr id="27" name="Shape 24"/>
          <p:cNvSpPr/>
          <p:nvPr/>
        </p:nvSpPr>
        <p:spPr>
          <a:xfrm>
            <a:off x="484632" y="335584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" y="33604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50392" y="331927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fresh test account and reach Day Zero; upload the embedded golden STEP in Verify.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84632" y="405079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" y="40553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50392" y="401421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 19,030 bytes, SHA-256 76923244…61103a, 20 × 15 × 10 mm envelope, 2.72 cm³ volume, 14.32 cm² area, watertight true, quantities, line items, and saved decision ID.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84632" y="4745736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" y="475030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850392" y="470916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Cost history by that exact ID; refresh and prove all durable result fields remain byte-for-byte JSON-equivalent.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4632" y="5440680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BFC1C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632" y="54452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71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50392" y="540410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one RFQ package from that decision; reopen, refresh, download ZIP, and reconcile manifest, line-items CSV, per-decision JSON/driver CSV, warnings, raw-CAD boundary, and real PDF or explicit PDF-unavailable artifact.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452360" y="1033272"/>
            <a:ext cx="426110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6D8"/>
            </a:solidFill>
            <a:prstDash val="solid"/>
          </a:ln>
        </p:spPr>
      </p:sp>
      <p:pic>
        <p:nvPicPr>
          <p:cNvPr id="40" name="Image 0" descr="Exact golden path: new account → verified CAD → durable decision → RFQ ZIP platform evidenc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71232" y="1315212"/>
            <a:ext cx="4023360" cy="2682240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7452360" y="4462272"/>
            <a:ext cx="4261104" cy="1581912"/>
          </a:xfrm>
          <a:prstGeom prst="roundRect">
            <a:avLst>
              <a:gd name="adj" fmla="val 2890"/>
            </a:avLst>
          </a:prstGeom>
          <a:solidFill>
            <a:srgbClr val="F1F1EF"/>
          </a:solidFill>
          <a:ln w="10160">
            <a:solidFill>
              <a:srgbClr val="D8D8D4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598664" y="457200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43" name="Text 39"/>
          <p:cNvSpPr/>
          <p:nvPr/>
        </p:nvSpPr>
        <p:spPr>
          <a:xfrm>
            <a:off x="7598664" y="4800600"/>
            <a:ext cx="39684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17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traceable account and decision ID connects the exact source bytes to measured geometry, governed should-cost evidence, a durable record, and an immutable RFQ package—without contacting a supplier or borrowing evidence from another test account.</a:t>
            </a:r>
            <a:endParaRPr lang="en-US" sz="1020" dirty="0"/>
          </a:p>
        </p:txBody>
      </p:sp>
      <p:sp>
        <p:nvSpPr>
          <p:cNvPr id="44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training-guide-e2e exact record chain + semantic ZIP/PDF reconciliation</a:t>
            </a:r>
            <a:endParaRPr lang="en-US" sz="59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hlinkClick r:id="rId1" tooltip="" action="ppaction://hlinksldjump"/>
          </p:cNvPr>
          <p:cNvSpPr/>
          <p:nvPr/>
        </p:nvSpPr>
        <p:spPr>
          <a:xfrm>
            <a:off x="384048" y="210312"/>
            <a:ext cx="256032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51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5" kern="0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PROOFSHAPE · PLATFORM WALKTHROUGH</a:t>
            </a:r>
            <a:endParaRPr lang="en-US" sz="750" dirty="0"/>
          </a:p>
        </p:txBody>
      </p:sp>
      <p:sp>
        <p:nvSpPr>
          <p:cNvPr id="5" name="Text 2">
            <a:hlinkClick r:id="rId2" tooltip="" action="ppaction://hlinksldjump"/>
          </p:cNvPr>
          <p:cNvSpPr/>
          <p:nvPr/>
        </p:nvSpPr>
        <p:spPr>
          <a:xfrm>
            <a:off x="4069080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530" dirty="0"/>
          </a:p>
        </p:txBody>
      </p:sp>
      <p:sp>
        <p:nvSpPr>
          <p:cNvPr id="6" name="Text 3">
            <a:hlinkClick r:id="rId3" tooltip="" action="ppaction://hlinksldjump"/>
          </p:cNvPr>
          <p:cNvSpPr/>
          <p:nvPr/>
        </p:nvSpPr>
        <p:spPr>
          <a:xfrm>
            <a:off x="4594860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endParaRPr lang="en-US" sz="530" dirty="0"/>
          </a:p>
        </p:txBody>
      </p:sp>
      <p:sp>
        <p:nvSpPr>
          <p:cNvPr id="7" name="Text 4">
            <a:hlinkClick r:id="rId4" tooltip="" action="ppaction://hlinksldjump"/>
          </p:cNvPr>
          <p:cNvSpPr/>
          <p:nvPr/>
        </p:nvSpPr>
        <p:spPr>
          <a:xfrm>
            <a:off x="5163617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</a:t>
            </a:r>
            <a:endParaRPr lang="en-US" sz="530" dirty="0"/>
          </a:p>
        </p:txBody>
      </p:sp>
      <p:sp>
        <p:nvSpPr>
          <p:cNvPr id="8" name="Text 5">
            <a:hlinkClick r:id="rId5" tooltip="" action="ppaction://hlinksldjump"/>
          </p:cNvPr>
          <p:cNvSpPr/>
          <p:nvPr/>
        </p:nvSpPr>
        <p:spPr>
          <a:xfrm>
            <a:off x="5732374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</a:t>
            </a:r>
            <a:endParaRPr lang="en-US" sz="530" dirty="0"/>
          </a:p>
        </p:txBody>
      </p:sp>
      <p:sp>
        <p:nvSpPr>
          <p:cNvPr id="9" name="Text 6">
            <a:hlinkClick r:id="rId6" tooltip="" action="ppaction://hlinksldjump"/>
          </p:cNvPr>
          <p:cNvSpPr/>
          <p:nvPr/>
        </p:nvSpPr>
        <p:spPr>
          <a:xfrm>
            <a:off x="6301130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</a:t>
            </a:r>
            <a:endParaRPr lang="en-US" sz="530" dirty="0"/>
          </a:p>
        </p:txBody>
      </p:sp>
      <p:sp>
        <p:nvSpPr>
          <p:cNvPr id="10" name="Text 7">
            <a:hlinkClick r:id="rId7" tooltip="" action="ppaction://hlinksldjump"/>
          </p:cNvPr>
          <p:cNvSpPr/>
          <p:nvPr/>
        </p:nvSpPr>
        <p:spPr>
          <a:xfrm>
            <a:off x="6785762" y="201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MFG</a:t>
            </a:r>
            <a:endParaRPr lang="en-US" sz="530" dirty="0"/>
          </a:p>
        </p:txBody>
      </p:sp>
      <p:sp>
        <p:nvSpPr>
          <p:cNvPr id="11" name="Text 8">
            <a:hlinkClick r:id="rId8" tooltip="" action="ppaction://hlinksldjump"/>
          </p:cNvPr>
          <p:cNvSpPr/>
          <p:nvPr/>
        </p:nvSpPr>
        <p:spPr>
          <a:xfrm>
            <a:off x="727039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</a:t>
            </a:r>
            <a:endParaRPr lang="en-US" sz="530" dirty="0"/>
          </a:p>
        </p:txBody>
      </p:sp>
      <p:sp>
        <p:nvSpPr>
          <p:cNvPr id="12" name="Text 9">
            <a:hlinkClick r:id="rId9" tooltip="" action="ppaction://hlinksldjump"/>
          </p:cNvPr>
          <p:cNvSpPr/>
          <p:nvPr/>
        </p:nvSpPr>
        <p:spPr>
          <a:xfrm>
            <a:off x="7796174" y="201168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</a:t>
            </a:r>
            <a:endParaRPr lang="en-US" sz="530" dirty="0"/>
          </a:p>
        </p:txBody>
      </p:sp>
      <p:sp>
        <p:nvSpPr>
          <p:cNvPr id="13" name="Text 10">
            <a:hlinkClick r:id="rId10" tooltip="" action="ppaction://hlinksldjump"/>
          </p:cNvPr>
          <p:cNvSpPr/>
          <p:nvPr/>
        </p:nvSpPr>
        <p:spPr>
          <a:xfrm>
            <a:off x="8321954" y="201168"/>
            <a:ext cx="627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</a:t>
            </a:r>
            <a:endParaRPr lang="en-US" sz="530" dirty="0"/>
          </a:p>
        </p:txBody>
      </p:sp>
      <p:sp>
        <p:nvSpPr>
          <p:cNvPr id="14" name="Text 11">
            <a:hlinkClick r:id="rId11" tooltip="" action="ppaction://hlinksldjump"/>
          </p:cNvPr>
          <p:cNvSpPr/>
          <p:nvPr/>
        </p:nvSpPr>
        <p:spPr>
          <a:xfrm>
            <a:off x="8976665" y="201168"/>
            <a:ext cx="584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</a:t>
            </a:r>
            <a:endParaRPr lang="en-US" sz="530" dirty="0"/>
          </a:p>
        </p:txBody>
      </p:sp>
      <p:sp>
        <p:nvSpPr>
          <p:cNvPr id="15" name="Text 12">
            <a:hlinkClick r:id="rId12" tooltip="" action="ppaction://hlinksldjump"/>
          </p:cNvPr>
          <p:cNvSpPr/>
          <p:nvPr/>
        </p:nvSpPr>
        <p:spPr>
          <a:xfrm>
            <a:off x="9588398" y="201168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u="sng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</a:t>
            </a:r>
            <a:endParaRPr lang="en-US" sz="530" dirty="0"/>
          </a:p>
        </p:txBody>
      </p:sp>
      <p:sp>
        <p:nvSpPr>
          <p:cNvPr id="16" name="Shape 13"/>
          <p:cNvSpPr/>
          <p:nvPr/>
        </p:nvSpPr>
        <p:spPr>
          <a:xfrm>
            <a:off x="9643262" y="438912"/>
            <a:ext cx="431597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048" y="539496"/>
            <a:ext cx="11420856" cy="0"/>
          </a:xfrm>
          <a:prstGeom prst="line">
            <a:avLst/>
          </a:prstGeom>
          <a:noFill/>
          <a:ln w="10160">
            <a:solidFill>
              <a:srgbClr val="3A3D42"/>
            </a:solidFill>
            <a:prstDash val="solid"/>
          </a:ln>
        </p:spPr>
      </p:sp>
      <p:sp>
        <p:nvSpPr>
          <p:cNvPr id="18" name="Text 15">
            <a:hlinkClick r:id="rId13" tooltip="" action="ppaction://hlinksldjump"/>
          </p:cNvPr>
          <p:cNvSpPr/>
          <p:nvPr/>
        </p:nvSpPr>
        <p:spPr>
          <a:xfrm>
            <a:off x="411480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PREVIOUS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559552" y="6556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9BDC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53 / 53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10744200" y="6556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5488" y="758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spc="80" kern="0" dirty="0">
                <a:solidFill>
                  <a:srgbClr val="666B7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SCREEN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475488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5" kern="0" dirty="0">
                <a:solidFill>
                  <a:srgbClr val="B8BDC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COMPLETION CHECKLIST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7200" y="1298448"/>
            <a:ext cx="6748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are done when the evidence matches—not when the spinner stops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" y="21214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BD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completed ProofShape task has a visible result, a durable record when required, correct provenance, exact identity, a reconciled export, and a known recovery path.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" y="2944368"/>
            <a:ext cx="256032" cy="256032"/>
          </a:xfrm>
          <a:prstGeom prst="ellipse">
            <a:avLst/>
          </a:prstGeom>
          <a:solidFill>
            <a:srgbClr val="C93C3C"/>
          </a:solidFill>
          <a:ln w="1016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" y="294894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2907792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expected outcome on every use-case slide you performed.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84632" y="3639312"/>
            <a:ext cx="256032" cy="256032"/>
          </a:xfrm>
          <a:prstGeom prst="ellipse">
            <a:avLst/>
          </a:prstGeom>
          <a:solidFill>
            <a:srgbClr val="2D3138"/>
          </a:solidFill>
          <a:ln w="10160">
            <a:solidFill>
              <a:srgbClr val="5A5F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364388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0392" y="3602736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or export only reviewed immutable records.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84632" y="4334256"/>
            <a:ext cx="256032" cy="256032"/>
          </a:xfrm>
          <a:prstGeom prst="ellipse">
            <a:avLst/>
          </a:prstGeom>
          <a:solidFill>
            <a:srgbClr val="2D3138"/>
          </a:solidFill>
          <a:ln w="10160">
            <a:solidFill>
              <a:srgbClr val="5A5F6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3388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0392" y="4297680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release report for this exact build; do not infer PASS from the contract counts printed in this guide.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484632" y="5029200"/>
            <a:ext cx="256032" cy="256032"/>
          </a:xfrm>
          <a:prstGeom prst="ellipse">
            <a:avLst/>
          </a:prstGeom>
          <a:solidFill>
            <a:srgbClr val="2D3138"/>
          </a:solidFill>
          <a:ln w="10160">
            <a:solidFill>
              <a:srgbClr val="5A5F6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" y="503377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0392" y="4992624"/>
            <a:ext cx="6245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the external launch slide before inviting public production users.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452360" y="1280160"/>
            <a:ext cx="4261104" cy="2743200"/>
          </a:xfrm>
          <a:prstGeom prst="roundRect">
            <a:avLst>
              <a:gd name="adj" fmla="val 1667"/>
            </a:avLst>
          </a:prstGeom>
          <a:solidFill>
            <a:srgbClr val="202329"/>
          </a:solidFill>
          <a:ln w="10160">
            <a:solidFill>
              <a:srgbClr val="42464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98664" y="13898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5" kern="0" dirty="0">
                <a:solidFill>
                  <a:srgbClr val="C9CDD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OUTCOME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7598664" y="1618488"/>
            <a:ext cx="39684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an exact clean-build LOCAL_100 report can certify all 64 local contracts for the build being served. Public production additionally requires real managed services, DNS/TLS, IdP/vendor acceptance, legal/IP approval, monitoring, backup, rollback, and accountable owners.</a:t>
            </a:r>
            <a:endParaRPr lang="en-US" sz="920" dirty="0"/>
          </a:p>
        </p:txBody>
      </p:sp>
      <p:sp>
        <p:nvSpPr>
          <p:cNvPr id="40" name="Shape 37"/>
          <p:cNvSpPr/>
          <p:nvPr/>
        </p:nvSpPr>
        <p:spPr>
          <a:xfrm>
            <a:off x="7452360" y="4224528"/>
            <a:ext cx="4261104" cy="1298448"/>
          </a:xfrm>
          <a:prstGeom prst="roundRect">
            <a:avLst/>
          </a:prstGeom>
          <a:solidFill>
            <a:srgbClr val="202329"/>
          </a:solidFill>
          <a:ln w="10160">
            <a:solidFill>
              <a:srgbClr val="42464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98664" y="4370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B8BDC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7598664" y="4645152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clean release gate + browser deck QA + full regressions; this slide never self-certifies</a:t>
            </a:r>
            <a:endParaRPr lang="en-US" sz="910" dirty="0"/>
          </a:p>
        </p:txBody>
      </p:sp>
      <p:sp>
        <p:nvSpPr>
          <p:cNvPr id="43" name="Text 40"/>
          <p:cNvSpPr/>
          <p:nvPr/>
        </p:nvSpPr>
        <p:spPr>
          <a:xfrm>
            <a:off x="475488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B8BDC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· Exact clean release gate + browser deck QA + full regressions; this slide never self-certifies</a:t>
            </a:r>
            <a:endParaRPr lang="en-US" sz="5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ProofShape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ProofShape Platform — Zero to a Defensible Result</dc:title>
  <dc:subject>Zero-to-production platform guide · source c9d0da99f2c396e1386e97ed0d8404ad5b92549974a4d1e592023c8284bafa72</dc:subject>
  <dc:creator>ProofShape</dc:creator>
  <cp:lastModifiedBy>ProofShape</cp:lastModifiedBy>
  <cp:revision>1</cp:revision>
  <dcterms:created xsi:type="dcterms:W3CDTF">2026-07-13T12:03:02Z</dcterms:created>
  <dcterms:modified xsi:type="dcterms:W3CDTF">2026-07-13T12:03:02Z</dcterms:modified>
</cp:coreProperties>
</file>